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7f08efbd234023" /><Relationship Type="http://schemas.openxmlformats.org/officeDocument/2006/relationships/extended-properties" Target="/docProps/app.xml" Id="R3d15bd8add114c25" /><Relationship Type="http://schemas.openxmlformats.org/officeDocument/2006/relationships/officeDocument" Target="/ppt/presentation.xml" Id="Rb7ff605a99dd4d75" /></Relationships>
</file>

<file path=ppt/presentation.xml><?xml version="1.0" encoding="utf-8"?>
<p:presentation xmlns:p="http://schemas.openxmlformats.org/presentationml/2006/main">
  <p:sldMasterIdLst>
    <p:sldMasterId xmlns:r="http://schemas.openxmlformats.org/officeDocument/2006/relationships" id="2147483648" r:id="Reb6dc80225654f1f"/>
  </p:sldMasterIdLst>
  <p:notesMasterIdLst>
    <p:notesMasterId xmlns:r="http://schemas.openxmlformats.org/officeDocument/2006/relationships" r:id="R2df9bdc729ec4920"/>
  </p:notesMasterIdLst>
  <p:sldIdLst>
    <p:sldId xmlns:r="http://schemas.openxmlformats.org/officeDocument/2006/relationships" id="256" r:id="R08a13fe5b02d483c"/>
    <p:sldId xmlns:r="http://schemas.openxmlformats.org/officeDocument/2006/relationships" id="257" r:id="R458d736e6f424877"/>
    <p:sldId xmlns:r="http://schemas.openxmlformats.org/officeDocument/2006/relationships" id="258" r:id="R7ae8dc8aca3d4f1f"/>
    <p:sldId xmlns:r="http://schemas.openxmlformats.org/officeDocument/2006/relationships" id="259" r:id="R496bbc74235545af"/>
    <p:sldId xmlns:r="http://schemas.openxmlformats.org/officeDocument/2006/relationships" id="260" r:id="R980e6fe8668b4a4b"/>
    <p:sldId xmlns:r="http://schemas.openxmlformats.org/officeDocument/2006/relationships" id="261" r:id="R2a9dc93734664ddd"/>
    <p:sldId xmlns:r="http://schemas.openxmlformats.org/officeDocument/2006/relationships" id="262" r:id="R8c3e0ea2af3a43c5"/>
    <p:sldId xmlns:r="http://schemas.openxmlformats.org/officeDocument/2006/relationships" id="263" r:id="R63663aa38b514e8c"/>
    <p:sldId xmlns:r="http://schemas.openxmlformats.org/officeDocument/2006/relationships" id="264" r:id="Rcb8229a59d9b4fea"/>
    <p:sldId xmlns:r="http://schemas.openxmlformats.org/officeDocument/2006/relationships" id="265" r:id="Rfce93c3cbe8943b1"/>
    <p:sldId xmlns:r="http://schemas.openxmlformats.org/officeDocument/2006/relationships" id="266" r:id="Rffe57a7e77b348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b00001eada4bf1" /><Relationship Type="http://schemas.openxmlformats.org/officeDocument/2006/relationships/slideMaster" Target="/ppt/slideMasters/slideMaster1.xml" Id="Reb6dc80225654f1f" /><Relationship Type="http://schemas.openxmlformats.org/officeDocument/2006/relationships/notesMaster" Target="/ppt/notesMasters/notesMaster1.xml" Id="R2df9bdc729ec4920" /><Relationship Type="http://schemas.openxmlformats.org/officeDocument/2006/relationships/presProps" Target="/ppt/presProps.xml" Id="R82836ceeb0fe4c2c" /><Relationship Type="http://schemas.openxmlformats.org/officeDocument/2006/relationships/tableStyles" Target="/ppt/tableStyles.xml" Id="R08f49bee43c4472b" /><Relationship Type="http://schemas.openxmlformats.org/officeDocument/2006/relationships/slide" Target="/ppt/slides/slide1.xml" Id="R08a13fe5b02d483c" /><Relationship Type="http://schemas.openxmlformats.org/officeDocument/2006/relationships/slide" Target="/ppt/slides/slide2.xml" Id="R458d736e6f424877" /><Relationship Type="http://schemas.openxmlformats.org/officeDocument/2006/relationships/slide" Target="/ppt/slides/slide3.xml" Id="R7ae8dc8aca3d4f1f" /><Relationship Type="http://schemas.openxmlformats.org/officeDocument/2006/relationships/slide" Target="/ppt/slides/slide4.xml" Id="R496bbc74235545af" /><Relationship Type="http://schemas.openxmlformats.org/officeDocument/2006/relationships/slide" Target="/ppt/slides/slide5.xml" Id="R980e6fe8668b4a4b" /><Relationship Type="http://schemas.openxmlformats.org/officeDocument/2006/relationships/slide" Target="/ppt/slides/slide6.xml" Id="R2a9dc93734664ddd" /><Relationship Type="http://schemas.openxmlformats.org/officeDocument/2006/relationships/slide" Target="/ppt/slides/slide7.xml" Id="R8c3e0ea2af3a43c5" /><Relationship Type="http://schemas.openxmlformats.org/officeDocument/2006/relationships/slide" Target="/ppt/slides/slide8.xml" Id="R63663aa38b514e8c" /><Relationship Type="http://schemas.openxmlformats.org/officeDocument/2006/relationships/slide" Target="/ppt/slides/slide9.xml" Id="Rcb8229a59d9b4fea" /><Relationship Type="http://schemas.openxmlformats.org/officeDocument/2006/relationships/slide" Target="/ppt/slides/slide10.xml" Id="Rfce93c3cbe8943b1" /><Relationship Type="http://schemas.openxmlformats.org/officeDocument/2006/relationships/slide" Target="/ppt/slides/slide11.xml" Id="Rffe57a7e77b348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5948a96a974e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3538311e244a97" /><Relationship Type="http://schemas.openxmlformats.org/officeDocument/2006/relationships/notesMaster" Target="/ppt/notesMasters/notesMaster1.xml" Id="Ra40f7b4ca5a340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7fce8229dd422b" /><Relationship Type="http://schemas.openxmlformats.org/officeDocument/2006/relationships/notesMaster" Target="/ppt/notesMasters/notesMaster1.xml" Id="R87ab7095cbe942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c967b620c94f76" /><Relationship Type="http://schemas.openxmlformats.org/officeDocument/2006/relationships/notesMaster" Target="/ppt/notesMasters/notesMaster1.xml" Id="Rc1eeea52f53147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4ab640feaf4fe0" /><Relationship Type="http://schemas.openxmlformats.org/officeDocument/2006/relationships/notesMaster" Target="/ppt/notesMasters/notesMaster1.xml" Id="R7aaa3510a12d45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e5d907885041f9" /><Relationship Type="http://schemas.openxmlformats.org/officeDocument/2006/relationships/notesMaster" Target="/ppt/notesMasters/notesMaster1.xml" Id="R9cf46af4707a44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9463ea34c9411f" /><Relationship Type="http://schemas.openxmlformats.org/officeDocument/2006/relationships/notesMaster" Target="/ppt/notesMasters/notesMaster1.xml" Id="R3e9d11b8aa954c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e50c325a4847d7" /><Relationship Type="http://schemas.openxmlformats.org/officeDocument/2006/relationships/notesMaster" Target="/ppt/notesMasters/notesMaster1.xml" Id="R38e11b6b1d8e49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ef743bc66d4e2c" /><Relationship Type="http://schemas.openxmlformats.org/officeDocument/2006/relationships/notesMaster" Target="/ppt/notesMasters/notesMaster1.xml" Id="R37e91157d67e48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f4c79e36114322" /><Relationship Type="http://schemas.openxmlformats.org/officeDocument/2006/relationships/notesMaster" Target="/ppt/notesMasters/notesMaster1.xml" Id="R44f4735d310d47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959dd954ba4965" /><Relationship Type="http://schemas.openxmlformats.org/officeDocument/2006/relationships/notesMaster" Target="/ppt/notesMasters/notesMaster1.xml" Id="R09a01bc48be84f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2e692f041d4de8" /><Relationship Type="http://schemas.openxmlformats.org/officeDocument/2006/relationships/notesMaster" Target="/ppt/notesMasters/notesMaster1.xml" Id="R58659c22b69e44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business outcome: Watch Dog EM gives ownership one controlled chain from energy consumption to invoice and collection. Keep the opening short and move directly to the operational problem.</a:t>
            </a:r>
          </a:p>
          <a:p xmlns:a="http://schemas.openxmlformats.org/drawingml/2006/main">
            <a:r>
              <a:t/>
            </a:r>
          </a:p>
          <a:p xmlns:a="http://schemas.openxmlformats.org/drawingml/2006/main">
            <a:r>
              <a:t>[Sources]</a:t>
            </a:r>
          </a:p>
          <a:p xmlns:a="http://schemas.openxmlformats.org/drawingml/2006/main">
            <a:r>
              <a:t>- Internal product: README.md</a:t>
            </a:r>
          </a:p>
          <a:p xmlns:a="http://schemas.openxmlformats.org/drawingml/2006/main">
            <a:r>
              <a:t>- Brand asset: wwwroot/images/watch-dog-logo-visible.png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product as a control system for the business, not only a technical meter reader. The value is traceability: every billed amount can be followed back to a meter, tariff and billing period.</a:t>
            </a:r>
          </a:p>
          <a:p xmlns:a="http://schemas.openxmlformats.org/drawingml/2006/main">
            <a:r>
              <a:t/>
            </a:r>
          </a:p>
          <a:p xmlns:a="http://schemas.openxmlformats.org/drawingml/2006/main">
            <a:r>
              <a:t>[Sources]</a:t>
            </a:r>
          </a:p>
          <a:p xmlns:a="http://schemas.openxmlformats.org/drawingml/2006/main">
            <a:r>
              <a:t>- Internal product model: Models/Domain.cs</a:t>
            </a:r>
          </a:p>
          <a:p xmlns:a="http://schemas.openxmlformats.org/drawingml/2006/main">
            <a:r>
              <a:t>- Live dashboard: Pages/Index.cshtml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clockwise through the four capabilities. Emphasize that they are connected records in one database, so ownership can move from reading to revenue without rebuilding the information each month.</a:t>
            </a:r>
          </a:p>
          <a:p xmlns:a="http://schemas.openxmlformats.org/drawingml/2006/main">
            <a:r>
              <a:t/>
            </a:r>
          </a:p>
          <a:p xmlns:a="http://schemas.openxmlformats.org/drawingml/2006/main">
            <a:r>
              <a:t>[Sources]</a:t>
            </a:r>
          </a:p>
          <a:p xmlns:a="http://schemas.openxmlformats.org/drawingml/2006/main">
            <a:r>
              <a:t>- Internal product model: ApplicationDbContext.cs and Models/Domain.cs</a:t>
            </a:r>
          </a:p>
          <a:p xmlns:a="http://schemas.openxmlformats.org/drawingml/2006/main">
            <a:r>
              <a:t>- Internal services: MeterPollingService.cs, BillingCalculator.cs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this as the product's control chain. The PLC or DDC provides registers, the controller communication reads them, channel configuration converts them to engineering values, and the billing engine creates the financial result.</a:t>
            </a:r>
          </a:p>
          <a:p xmlns:a="http://schemas.openxmlformats.org/drawingml/2006/main">
            <a:r>
              <a:t/>
            </a:r>
          </a:p>
          <a:p xmlns:a="http://schemas.openxmlformats.org/drawingml/2006/main">
            <a:r>
              <a:t>[Sources]</a:t>
            </a:r>
          </a:p>
          <a:p xmlns:a="http://schemas.openxmlformats.org/drawingml/2006/main">
            <a:r>
              <a:t>- Internal Modbus implementation: Services/ModbusRtuService.cs</a:t>
            </a:r>
          </a:p>
          <a:p xmlns:a="http://schemas.openxmlformats.org/drawingml/2006/main">
            <a:r>
              <a:t>- Internal polling: Services/MeterPollingService.cs</a:t>
            </a:r>
          </a:p>
          <a:p xmlns:a="http://schemas.openxmlformats.org/drawingml/2006/main">
            <a:r>
              <a:t>- Internal billing: Services/BillingCalculator.cs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36 is the configured channel limit per controller, not the limit of the whole installation. Expansion means adding another controller and assigning its meter channels and registers.</a:t>
            </a:r>
          </a:p>
          <a:p xmlns:a="http://schemas.openxmlformats.org/drawingml/2006/main">
            <a:r>
              <a:t/>
            </a:r>
          </a:p>
          <a:p xmlns:a="http://schemas.openxmlformats.org/drawingml/2006/main">
            <a:r>
              <a:t>[Sources]</a:t>
            </a:r>
          </a:p>
          <a:p xmlns:a="http://schemas.openxmlformats.org/drawingml/2006/main">
            <a:r>
              <a:t>- Internal product: README.md</a:t>
            </a:r>
          </a:p>
          <a:p xmlns:a="http://schemas.openxmlformats.org/drawingml/2006/main">
            <a:r>
              <a:t>- Controller channel UI: Pages/Admin/Controllers/Channels.cshtml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screenshot to orient the owner. Point out the tariff summary, communication alarms, live reading status, billing overview and outstanding balance. The displayed values are current local test data, not a promised operating result.</a:t>
            </a:r>
          </a:p>
          <a:p xmlns:a="http://schemas.openxmlformats.org/drawingml/2006/main">
            <a:r>
              <a:t/>
            </a:r>
          </a:p>
          <a:p xmlns:a="http://schemas.openxmlformats.org/drawingml/2006/main">
            <a:r>
              <a:t>[Sources]</a:t>
            </a:r>
          </a:p>
          <a:p xmlns:a="http://schemas.openxmlformats.org/drawingml/2006/main">
            <a:r>
              <a:t>- Live local product screenshot captured from http://localhost:5080/ on 27 Aug 2026</a:t>
            </a:r>
          </a:p>
          <a:p xmlns:a="http://schemas.openxmlformats.org/drawingml/2006/main">
            <a:r>
              <a:t>- Dashboard source: Pages/Index.cshtml and Index.cshtml.cs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a simple example verbally if useful: two shops may have different effective tariffs, and the invoice stores the tariff and currency used. Avoid discussing exchange-rate conversion because the product reports balances by currency rather than converting them.</a:t>
            </a:r>
          </a:p>
          <a:p xmlns:a="http://schemas.openxmlformats.org/drawingml/2006/main">
            <a:r>
              <a:t/>
            </a:r>
          </a:p>
          <a:p xmlns:a="http://schemas.openxmlformats.org/drawingml/2006/main">
            <a:r>
              <a:t>[Sources]</a:t>
            </a:r>
          </a:p>
          <a:p xmlns:a="http://schemas.openxmlformats.org/drawingml/2006/main">
            <a:r>
              <a:t>- Internal tariff model: Models/Domain.cs</a:t>
            </a:r>
          </a:p>
          <a:p xmlns:a="http://schemas.openxmlformats.org/drawingml/2006/main">
            <a:r>
              <a:t>- Internal tariff selection: Services/TariffResolver.cs</a:t>
            </a:r>
          </a:p>
          <a:p xmlns:a="http://schemas.openxmlformats.org/drawingml/2006/main">
            <a:r>
              <a:t>- Internal dashboard currency grouping: Pages/Index.cshtml.cs</a:t>
            </a:r>
          </a:p>
          <a:p xmlns:a="http://schemas.openxmlformats.org/drawingml/2006/main">
            <a:r>
              <a:t>- Internal calculation: Services/BillingCalculator.cs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month-end rhythm. Readings are captured, the bill is calculated, then finalization locks the commercial record. Payments update invoice status from finalized to partially paid or paid.</a:t>
            </a:r>
          </a:p>
          <a:p xmlns:a="http://schemas.openxmlformats.org/drawingml/2006/main">
            <a:r>
              <a:t/>
            </a:r>
          </a:p>
          <a:p xmlns:a="http://schemas.openxmlformats.org/drawingml/2006/main">
            <a:r>
              <a:t>[Sources]</a:t>
            </a:r>
          </a:p>
          <a:p xmlns:a="http://schemas.openxmlformats.org/drawingml/2006/main">
            <a:r>
              <a:t>- Internal billing lifecycle: Models/Domain.cs</a:t>
            </a:r>
          </a:p>
          <a:p xmlns:a="http://schemas.openxmlformats.org/drawingml/2006/main">
            <a:r>
              <a:t>- Internal operations UI: Pages/Operations/Index.cshtml</a:t>
            </a:r>
          </a:p>
          <a:p xmlns:a="http://schemas.openxmlformats.org/drawingml/2006/main">
            <a:r>
              <a:t>- Internal invoice view and PDF: Pages/Invoices/Details.cshtml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addresses control risk. Communication and register settings are restricted to administrators. Changes create audit records, and the application provides backup and restore operations. Mention that deletion actions require confirmation.</a:t>
            </a:r>
          </a:p>
          <a:p xmlns:a="http://schemas.openxmlformats.org/drawingml/2006/main">
            <a:r>
              <a:t/>
            </a:r>
          </a:p>
          <a:p xmlns:a="http://schemas.openxmlformats.org/drawingml/2006/main">
            <a:r>
              <a:t>[Sources]</a:t>
            </a:r>
          </a:p>
          <a:p xmlns:a="http://schemas.openxmlformats.org/drawingml/2006/main">
            <a:r>
              <a:t>- Authorization: Program.cs</a:t>
            </a:r>
          </a:p>
          <a:p xmlns:a="http://schemas.openxmlformats.org/drawingml/2006/main">
            <a:r>
              <a:t>- Controller configuration and test: Pages/Admin/Controllers/Edit.cshtml</a:t>
            </a:r>
          </a:p>
          <a:p xmlns:a="http://schemas.openxmlformats.org/drawingml/2006/main">
            <a:r>
              <a:t>- Audit behavior: Pages/Admin/Controllers/*.cs</a:t>
            </a:r>
          </a:p>
          <a:p xmlns:a="http://schemas.openxmlformats.org/drawingml/2006/main">
            <a:r>
              <a:t>- Backup and restore: Pages/Operations/Index.cshtml.cs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local deployment as direct operational ownership. The installer is self-contained. Customer data and backups are stored outside the program directory so upgrades do not replace them. Network access to other devices can be configured separately if required.</a:t>
            </a:r>
          </a:p>
          <a:p xmlns:a="http://schemas.openxmlformats.org/drawingml/2006/main">
            <a:r>
              <a:t/>
            </a:r>
          </a:p>
          <a:p xmlns:a="http://schemas.openxmlformats.org/drawingml/2006/main">
            <a:r>
              <a:t>[Sources]</a:t>
            </a:r>
          </a:p>
          <a:p xmlns:a="http://schemas.openxmlformats.org/drawingml/2006/main">
            <a:r>
              <a:t>- Internal installation guide: README.md</a:t>
            </a:r>
          </a:p>
          <a:p xmlns:a="http://schemas.openxmlformats.org/drawingml/2006/main">
            <a:r>
              <a:t>- Installer definition: installer/WatchDogEM.iss</a:t>
            </a:r>
          </a:p>
          <a:p xmlns:a="http://schemas.openxmlformats.org/drawingml/2006/main">
            <a:r>
              <a:t>- Data paths: Program.cs and Services/AppDataPaths.cs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concrete, low-risk decision. The pilot should prove the physical communication path, the meter conversion, billing calculations and the owner's review process before adding more controllers and meters.</a:t>
            </a:r>
          </a:p>
          <a:p xmlns:a="http://schemas.openxmlformats.org/drawingml/2006/main">
            <a:r>
              <a:t/>
            </a:r>
          </a:p>
          <a:p xmlns:a="http://schemas.openxmlformats.org/drawingml/2006/main">
            <a:r>
              <a:t>[Sources]</a:t>
            </a:r>
          </a:p>
          <a:p xmlns:a="http://schemas.openxmlformats.org/drawingml/2006/main">
            <a:r>
              <a:t>- Recommended implementation approach derived from the product's commissioning workflow</a:t>
            </a:r>
          </a:p>
          <a:p xmlns:a="http://schemas.openxmlformats.org/drawingml/2006/main">
            <a:r>
              <a:t>- Internal communication test flow: Pages/Admin/Controllers/Edit.cshtml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b318a8bb1249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99e5f424544cee" /><Relationship Type="http://schemas.openxmlformats.org/officeDocument/2006/relationships/slideLayout" Target="/ppt/slideLayouts/slideLayout1.xml" Id="Re2bbc5416ce442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bbc5416ce442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54f32e2b3e74061" /><Relationship Type="http://schemas.openxmlformats.org/officeDocument/2006/relationships/image" Target="/ppt/media/image.png" Id="Rb6383b1985a54f07" /><Relationship Type="http://schemas.openxmlformats.org/officeDocument/2006/relationships/notesSlide" Target="/ppt/notesSlides/notesSlide1.xml" Id="Rc7ddd5a79e0f47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40da02bcb54880" /><Relationship Type="http://schemas.openxmlformats.org/officeDocument/2006/relationships/notesSlide" Target="/ppt/notesSlides/notesSlide2.xml" Id="R963ba7cfc0f649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101f4376df4c8b" /><Relationship Type="http://schemas.openxmlformats.org/officeDocument/2006/relationships/notesSlide" Target="/ppt/notesSlides/notesSlide3.xml" Id="Rd1c0677d18c14c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8dddc22cec4420" /><Relationship Type="http://schemas.openxmlformats.org/officeDocument/2006/relationships/notesSlide" Target="/ppt/notesSlides/notesSlide4.xml" Id="R0fd9df58864f4a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705c4c53c048d7" /><Relationship Type="http://schemas.openxmlformats.org/officeDocument/2006/relationships/notesSlide" Target="/ppt/notesSlides/notesSlide5.xml" Id="Rbf0df4282fd14a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5a63fbd6b14fbe" /><Relationship Type="http://schemas.openxmlformats.org/officeDocument/2006/relationships/image" Target="/ppt/media/image.jpeg" Id="Re3af166b7e91498c" /><Relationship Type="http://schemas.openxmlformats.org/officeDocument/2006/relationships/notesSlide" Target="/ppt/notesSlides/notesSlide6.xml" Id="Ref4b61c5c89045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64143fc79c4f03" /><Relationship Type="http://schemas.openxmlformats.org/officeDocument/2006/relationships/notesSlide" Target="/ppt/notesSlides/notesSlide7.xml" Id="R1342dae3f4114e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179becb3f14409c" /><Relationship Type="http://schemas.openxmlformats.org/officeDocument/2006/relationships/notesSlide" Target="/ppt/notesSlides/notesSlide8.xml" Id="Rdb626099163e4c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5e978622a6a4532" /><Relationship Type="http://schemas.openxmlformats.org/officeDocument/2006/relationships/notesSlide" Target="/ppt/notesSlides/notesSlide9.xml" Id="R09125d7d7b1648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f789413f05645c9" /><Relationship Type="http://schemas.openxmlformats.org/officeDocument/2006/relationships/notesSlide" Target="/ppt/notesSlides/notesSlide10.xml" Id="R8fcc83f2d4d94e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d8dcbc46f94508" /><Relationship Type="http://schemas.openxmlformats.org/officeDocument/2006/relationships/notesSlide" Target="/ppt/notesSlides/notesSlide11.xml" Id="Rbef6fea9443e4af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ver-right-field">
            <a:extLst xmlns:a="http://schemas.openxmlformats.org/drawingml/2006/main">
              <a:ext uri="{FF2B5EF4-FFF2-40B4-BE49-F238E27FC236}">
                <a16:creationId xmlns:a16="http://schemas.microsoft.com/office/drawing/2014/main" id="{0B42F968-6036-4023-9EF1-8F2BB9E7B3D7}"/>
              </a:ext>
            </a:extLst>
          </p:cNvPr>
          <p:cNvSpPr>
            <a:spLocks xmlns:a="http://schemas.openxmlformats.org/drawingml/2006/main" noGrp="1"/>
          </p:cNvSpPr>
          <p:nvPr/>
        </p:nvSpPr>
        <p:spPr>
          <a:xfrm xmlns:a="http://schemas.openxmlformats.org/drawingml/2006/main">
            <a:off x="6477000" y="0"/>
            <a:ext cx="5715000" cy="6858000"/>
          </a:xfrm>
          <a:prstGeom xmlns:a="http://schemas.openxmlformats.org/drawingml/2006/main" prst="rect">
            <a:avLst/>
          </a:prstGeom>
          <a:solidFill xmlns:a="http://schemas.openxmlformats.org/drawingml/2006/main">
            <a:srgbClr val="0B2838"/>
          </a:solidFill>
          <a:ln xmlns:a="http://schemas.openxmlformats.org/drawingml/2006/main" w="9525">
            <a:solidFill>
              <a:srgbClr val="0B2838"/>
            </a:solidFill>
            <a:prstDash val="solid"/>
          </a:ln>
        </p:spPr>
      </p:sp>
      <p:sp>
        <p:nvSpPr>
          <p:cNvPr id="2" name="cover-kicker">
            <a:extLst xmlns:a="http://schemas.openxmlformats.org/drawingml/2006/main">
              <a:ext uri="{FF2B5EF4-FFF2-40B4-BE49-F238E27FC236}">
                <a16:creationId xmlns:a16="http://schemas.microsoft.com/office/drawing/2014/main" id="{6F4F5934-D745-4428-A6B6-9D56A0B3BBE5}"/>
              </a:ext>
            </a:extLst>
          </p:cNvPr>
          <p:cNvSpPr>
            <a:spLocks xmlns:a="http://schemas.openxmlformats.org/drawingml/2006/main" noGrp="1"/>
          </p:cNvSpPr>
          <p:nvPr/>
        </p:nvSpPr>
        <p:spPr>
          <a:xfrm xmlns:a="http://schemas.openxmlformats.org/drawingml/2006/main">
            <a:off x="609600" y="78105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0A8F88"/>
                </a:solidFill>
                <a:latin typeface="Arial"/>
                <a:ea typeface="Arial"/>
                <a:cs typeface="Arial"/>
              </a:defRPr>
            </a:pPr>
            <a:r>
              <a:rPr sz="1200" b="1">
                <a:solidFill>
                  <a:srgbClr val="0A8F88"/>
                </a:solidFill>
                <a:latin typeface="Arial"/>
                <a:ea typeface="Arial"/>
                <a:cs typeface="Arial"/>
              </a:rPr>
              <a:t>ENERGY METERING &amp; SHOP BILLING</a:t>
            </a:r>
          </a:p>
        </p:txBody>
      </p:sp>
      <p:sp>
        <p:nvSpPr>
          <p:cNvPr id="3" name="cover-title">
            <a:extLst xmlns:a="http://schemas.openxmlformats.org/drawingml/2006/main">
              <a:ext uri="{FF2B5EF4-FFF2-40B4-BE49-F238E27FC236}">
                <a16:creationId xmlns:a16="http://schemas.microsoft.com/office/drawing/2014/main" id="{9FC6B843-80F1-4D66-9509-7F9A185FC211}"/>
              </a:ext>
            </a:extLst>
          </p:cNvPr>
          <p:cNvSpPr>
            <a:spLocks xmlns:a="http://schemas.openxmlformats.org/drawingml/2006/main" noGrp="1"/>
          </p:cNvSpPr>
          <p:nvPr/>
        </p:nvSpPr>
        <p:spPr>
          <a:xfrm xmlns:a="http://schemas.openxmlformats.org/drawingml/2006/main">
            <a:off x="609600" y="1381125"/>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950" b="1">
                <a:solidFill>
                  <a:srgbClr val="11242D"/>
                </a:solidFill>
                <a:latin typeface="Arial"/>
                <a:ea typeface="Arial"/>
                <a:cs typeface="Arial"/>
              </a:defRPr>
            </a:pPr>
            <a:r>
              <a:rPr sz="4950" b="1">
                <a:solidFill>
                  <a:srgbClr val="11242D"/>
                </a:solidFill>
                <a:latin typeface="Arial"/>
                <a:ea typeface="Arial"/>
                <a:cs typeface="Arial"/>
              </a:rPr>
              <a:t>Watch Dog EM</a:t>
            </a:r>
          </a:p>
        </p:txBody>
      </p:sp>
      <p:sp>
        <p:nvSpPr>
          <p:cNvPr id="4" name="cover-tagline">
            <a:extLst xmlns:a="http://schemas.openxmlformats.org/drawingml/2006/main">
              <a:ext uri="{FF2B5EF4-FFF2-40B4-BE49-F238E27FC236}">
                <a16:creationId xmlns:a16="http://schemas.microsoft.com/office/drawing/2014/main" id="{B00CA1DF-ED17-4B29-A052-F5D0F701869B}"/>
              </a:ext>
            </a:extLst>
          </p:cNvPr>
          <p:cNvSpPr>
            <a:spLocks xmlns:a="http://schemas.openxmlformats.org/drawingml/2006/main" noGrp="1"/>
          </p:cNvSpPr>
          <p:nvPr/>
        </p:nvSpPr>
        <p:spPr>
          <a:xfrm xmlns:a="http://schemas.openxmlformats.org/drawingml/2006/main">
            <a:off x="609600" y="233362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8716D"/>
                </a:solidFill>
                <a:latin typeface="Arial"/>
                <a:ea typeface="Arial"/>
                <a:cs typeface="Arial"/>
              </a:defRPr>
            </a:pPr>
            <a:r>
              <a:rPr sz="2550" b="1">
                <a:solidFill>
                  <a:srgbClr val="08716D"/>
                </a:solidFill>
                <a:latin typeface="Arial"/>
                <a:ea typeface="Arial"/>
                <a:cs typeface="Arial"/>
              </a:rPr>
              <a:t>Watch Every Watt</a:t>
            </a:r>
          </a:p>
        </p:txBody>
      </p:sp>
      <p:sp>
        <p:nvSpPr>
          <p:cNvPr id="5" name="cover-subtitle">
            <a:extLst xmlns:a="http://schemas.openxmlformats.org/drawingml/2006/main">
              <a:ext uri="{FF2B5EF4-FFF2-40B4-BE49-F238E27FC236}">
                <a16:creationId xmlns:a16="http://schemas.microsoft.com/office/drawing/2014/main" id="{E194684D-8E70-4DDB-BEF1-5B6B3FA7D36A}"/>
              </a:ext>
            </a:extLst>
          </p:cNvPr>
          <p:cNvSpPr>
            <a:spLocks xmlns:a="http://schemas.openxmlformats.org/drawingml/2006/main" noGrp="1"/>
          </p:cNvSpPr>
          <p:nvPr/>
        </p:nvSpPr>
        <p:spPr>
          <a:xfrm xmlns:a="http://schemas.openxmlformats.org/drawingml/2006/main">
            <a:off x="609600" y="3143250"/>
            <a:ext cx="5095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52666F"/>
                </a:solidFill>
                <a:latin typeface="Arial"/>
                <a:ea typeface="Arial"/>
                <a:cs typeface="Arial"/>
              </a:defRPr>
            </a:pPr>
            <a:r>
              <a:rPr sz="1800" b="0">
                <a:solidFill>
                  <a:srgbClr val="52666F"/>
                </a:solidFill>
                <a:latin typeface="Arial"/>
                <a:ea typeface="Arial"/>
                <a:cs typeface="Arial"/>
              </a:rPr>
              <a:t>A professional local platform that turns real meter readings into clear, controlled and auditable shop billing.</a:t>
            </a:r>
          </a:p>
        </p:txBody>
      </p:sp>
      <p:sp>
        <p:nvSpPr>
          <p:cNvPr id="6" name="cover-byline">
            <a:extLst xmlns:a="http://schemas.openxmlformats.org/drawingml/2006/main">
              <a:ext uri="{FF2B5EF4-FFF2-40B4-BE49-F238E27FC236}">
                <a16:creationId xmlns:a16="http://schemas.microsoft.com/office/drawing/2014/main" id="{D53D7FD2-8999-4A17-AE78-E66C7C8E185F}"/>
              </a:ext>
            </a:extLst>
          </p:cNvPr>
          <p:cNvSpPr>
            <a:spLocks xmlns:a="http://schemas.openxmlformats.org/drawingml/2006/main" noGrp="1"/>
          </p:cNvSpPr>
          <p:nvPr/>
        </p:nvSpPr>
        <p:spPr>
          <a:xfrm xmlns:a="http://schemas.openxmlformats.org/drawingml/2006/main">
            <a:off x="609600" y="5829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66F"/>
                </a:solidFill>
                <a:latin typeface="Arial"/>
                <a:ea typeface="Arial"/>
                <a:cs typeface="Arial"/>
              </a:defRPr>
            </a:pPr>
            <a:r>
              <a:rPr sz="1275" b="0">
                <a:solidFill>
                  <a:srgbClr val="52666F"/>
                </a:solidFill>
                <a:latin typeface="Arial"/>
                <a:ea typeface="Arial"/>
                <a:cs typeface="Arial"/>
              </a:rPr>
              <a:t>Owner presentation · By MicroBrain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6383b1985a54f07"/>
          <a:stretch xmlns:a="http://schemas.openxmlformats.org/drawingml/2006/main"/>
        </p:blipFill>
        <p:spPr>
          <a:xfrm xmlns:a="http://schemas.openxmlformats.org/drawingml/2006/main">
            <a:off x="7334250" y="1000125"/>
            <a:ext cx="4000500" cy="4000500"/>
          </a:xfrm>
          <a:prstGeom xmlns:a="http://schemas.openxmlformats.org/drawingml/2006/main" prst="rect">
            <a:avLst/>
          </a:prstGeom>
        </p:spPr>
      </p:pic>
      <p:sp>
        <p:nvSpPr>
          <p:cNvPr id="8" name="cover-right-tagline">
            <a:extLst xmlns:a="http://schemas.openxmlformats.org/drawingml/2006/main">
              <a:ext uri="{FF2B5EF4-FFF2-40B4-BE49-F238E27FC236}">
                <a16:creationId xmlns:a16="http://schemas.microsoft.com/office/drawing/2014/main" id="{3850F139-AEE4-4070-BC86-F1EDD1470471}"/>
              </a:ext>
            </a:extLst>
          </p:cNvPr>
          <p:cNvSpPr>
            <a:spLocks xmlns:a="http://schemas.openxmlformats.org/drawingml/2006/main" noGrp="1"/>
          </p:cNvSpPr>
          <p:nvPr/>
        </p:nvSpPr>
        <p:spPr>
          <a:xfrm xmlns:a="http://schemas.openxmlformats.org/drawingml/2006/main">
            <a:off x="7334250" y="53340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WATCH EVERY WATT</a:t>
            </a:r>
          </a:p>
        </p:txBody>
      </p:sp>
    </p:spTree>
    <p:extLst>
      <p:ext uri="{BB962C8B-B14F-4D97-AF65-F5344CB8AC3E}">
        <p14:creationId xmlns:p14="http://schemas.microsoft.com/office/powerpoint/2010/main" val="19386998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kicker-2">
            <a:extLst xmlns:a="http://schemas.openxmlformats.org/drawingml/2006/main">
              <a:ext uri="{FF2B5EF4-FFF2-40B4-BE49-F238E27FC236}">
                <a16:creationId xmlns:a16="http://schemas.microsoft.com/office/drawing/2014/main" id="{6FD2A6EA-89E8-4D71-B122-1AB06F32ED17}"/>
              </a:ext>
            </a:extLst>
          </p:cNvPr>
          <p:cNvSpPr>
            <a:spLocks xmlns:a="http://schemas.openxmlformats.org/drawingml/2006/main" noGrp="1"/>
          </p:cNvSpPr>
          <p:nvPr/>
        </p:nvSpPr>
        <p:spPr>
          <a:xfrm xmlns:a="http://schemas.openxmlformats.org/drawingml/2006/main">
            <a:off x="53340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8F88"/>
                </a:solidFill>
                <a:latin typeface="Arial"/>
                <a:ea typeface="Arial"/>
                <a:cs typeface="Arial"/>
              </a:defRPr>
            </a:pPr>
            <a:r>
              <a:rPr sz="1050" b="1">
                <a:solidFill>
                  <a:srgbClr val="0A8F88"/>
                </a:solidFill>
                <a:latin typeface="Arial"/>
                <a:ea typeface="Arial"/>
                <a:cs typeface="Arial"/>
              </a:rPr>
              <a:t>WATCH DOG EM</a:t>
            </a:r>
          </a:p>
        </p:txBody>
      </p:sp>
      <p:sp>
        <p:nvSpPr>
          <p:cNvPr id="2" name="title-2">
            <a:extLst xmlns:a="http://schemas.openxmlformats.org/drawingml/2006/main">
              <a:ext uri="{FF2B5EF4-FFF2-40B4-BE49-F238E27FC236}">
                <a16:creationId xmlns:a16="http://schemas.microsoft.com/office/drawing/2014/main" id="{B881DA91-7C86-49C6-83F1-D52CC6DD471F}"/>
              </a:ext>
            </a:extLst>
          </p:cNvPr>
          <p:cNvSpPr>
            <a:spLocks xmlns:a="http://schemas.openxmlformats.org/drawingml/2006/main" noGrp="1"/>
          </p:cNvSpPr>
          <p:nvPr/>
        </p:nvSpPr>
        <p:spPr>
          <a:xfrm xmlns:a="http://schemas.openxmlformats.org/drawingml/2006/main">
            <a:off x="533400" y="6667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1242D"/>
                </a:solidFill>
                <a:latin typeface="Arial"/>
                <a:ea typeface="Arial"/>
                <a:cs typeface="Arial"/>
              </a:defRPr>
            </a:pPr>
            <a:r>
              <a:rPr sz="3600" b="1">
                <a:solidFill>
                  <a:srgbClr val="11242D"/>
                </a:solidFill>
                <a:latin typeface="Arial"/>
                <a:ea typeface="Arial"/>
                <a:cs typeface="Arial"/>
              </a:rPr>
              <a:t>The real challenge is trusted billing visibility</a:t>
            </a:r>
          </a:p>
        </p:txBody>
      </p:sp>
      <p:cxnSp>
        <p:nvCxnSpPr>
          <p:cNvPr id="25" name="header-rule-2"/>
          <p:cNvCxnSpPr/>
          <p:nvPr/>
        </p:nvCxnSpPr>
        <p:spPr>
          <a:xfrm xmlns:a="http://schemas.openxmlformats.org/drawingml/2006/main">
            <a:off x="533400" y="1428750"/>
            <a:ext cx="11125200" cy="0"/>
          </a:xfrm>
          <a:prstGeom xmlns:a="http://schemas.openxmlformats.org/drawingml/2006/main" prst="straightConnector1">
            <a:avLst/>
          </a:prstGeom>
          <a:ln xmlns:a="http://schemas.openxmlformats.org/drawingml/2006/main" w="9525">
            <a:solidFill>
              <a:srgbClr val="B7C4CA"/>
            </a:solidFill>
            <a:prstDash val="solid"/>
          </a:ln>
        </p:spPr>
      </p:cxnSp>
      <p:sp>
        <p:nvSpPr>
          <p:cNvPr id="4" name="challenge-intro">
            <a:extLst xmlns:a="http://schemas.openxmlformats.org/drawingml/2006/main">
              <a:ext uri="{FF2B5EF4-FFF2-40B4-BE49-F238E27FC236}">
                <a16:creationId xmlns:a16="http://schemas.microsoft.com/office/drawing/2014/main" id="{BD5AD86E-7A23-46F1-BE9B-B4E4EAB4E37E}"/>
              </a:ext>
            </a:extLst>
          </p:cNvPr>
          <p:cNvSpPr>
            <a:spLocks xmlns:a="http://schemas.openxmlformats.org/drawingml/2006/main" noGrp="1"/>
          </p:cNvSpPr>
          <p:nvPr/>
        </p:nvSpPr>
        <p:spPr>
          <a:xfrm xmlns:a="http://schemas.openxmlformats.org/drawingml/2006/main">
            <a:off x="533400" y="16954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52666F"/>
                </a:solidFill>
                <a:latin typeface="Arial"/>
                <a:ea typeface="Arial"/>
                <a:cs typeface="Arial"/>
              </a:defRPr>
            </a:pPr>
            <a:r>
              <a:rPr sz="1800" b="0">
                <a:solidFill>
                  <a:srgbClr val="52666F"/>
                </a:solidFill>
                <a:latin typeface="Arial"/>
                <a:ea typeface="Arial"/>
                <a:cs typeface="Arial"/>
              </a:rPr>
              <a:t>Owners need more than meter values. They need a reliable link between consumption, tenant charges, invoices and payment status.</a:t>
            </a:r>
          </a:p>
        </p:txBody>
      </p:sp>
      <p:sp>
        <p:nvSpPr>
          <p:cNvPr id="5" name="fragmented-panel">
            <a:extLst xmlns:a="http://schemas.openxmlformats.org/drawingml/2006/main">
              <a:ext uri="{FF2B5EF4-FFF2-40B4-BE49-F238E27FC236}">
                <a16:creationId xmlns:a16="http://schemas.microsoft.com/office/drawing/2014/main" id="{48F115FD-6D57-42A6-AA70-58F3B81E1345}"/>
              </a:ext>
            </a:extLst>
          </p:cNvPr>
          <p:cNvSpPr>
            <a:spLocks xmlns:a="http://schemas.openxmlformats.org/drawingml/2006/main" noGrp="1"/>
          </p:cNvSpPr>
          <p:nvPr/>
        </p:nvSpPr>
        <p:spPr>
          <a:xfrm xmlns:a="http://schemas.openxmlformats.org/drawingml/2006/main">
            <a:off x="533400" y="2619375"/>
            <a:ext cx="5095875" cy="2952750"/>
          </a:xfrm>
          <a:prstGeom xmlns:a="http://schemas.openxmlformats.org/drawingml/2006/main" prst="rect">
            <a:avLst/>
          </a:prstGeom>
          <a:solidFill xmlns:a="http://schemas.openxmlformats.org/drawingml/2006/main">
            <a:srgbClr val="EEF3F5"/>
          </a:solidFill>
          <a:ln xmlns:a="http://schemas.openxmlformats.org/drawingml/2006/main" w="9525">
            <a:solidFill>
              <a:srgbClr val="EEF3F5"/>
            </a:solidFill>
            <a:prstDash val="solid"/>
          </a:ln>
        </p:spPr>
      </p:sp>
      <p:sp>
        <p:nvSpPr>
          <p:cNvPr id="6" name="fragmented-title">
            <a:extLst xmlns:a="http://schemas.openxmlformats.org/drawingml/2006/main">
              <a:ext uri="{FF2B5EF4-FFF2-40B4-BE49-F238E27FC236}">
                <a16:creationId xmlns:a16="http://schemas.microsoft.com/office/drawing/2014/main" id="{96470BC0-57E9-43F2-8695-D11745B27E56}"/>
              </a:ext>
            </a:extLst>
          </p:cNvPr>
          <p:cNvSpPr>
            <a:spLocks xmlns:a="http://schemas.openxmlformats.org/drawingml/2006/main" noGrp="1"/>
          </p:cNvSpPr>
          <p:nvPr/>
        </p:nvSpPr>
        <p:spPr>
          <a:xfrm xmlns:a="http://schemas.openxmlformats.org/drawingml/2006/main">
            <a:off x="819150" y="2905125"/>
            <a:ext cx="442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242D"/>
                </a:solidFill>
                <a:latin typeface="Arial"/>
                <a:ea typeface="Arial"/>
                <a:cs typeface="Arial"/>
              </a:defRPr>
            </a:pPr>
            <a:r>
              <a:rPr sz="2250" b="1">
                <a:solidFill>
                  <a:srgbClr val="11242D"/>
                </a:solidFill>
                <a:latin typeface="Arial"/>
                <a:ea typeface="Arial"/>
                <a:cs typeface="Arial"/>
              </a:rPr>
              <a:t>Without one system</a:t>
            </a:r>
          </a:p>
        </p:txBody>
      </p:sp>
      <p:sp>
        <p:nvSpPr>
          <p:cNvPr id="7" name="fragmented-1-bar">
            <a:extLst xmlns:a="http://schemas.openxmlformats.org/drawingml/2006/main">
              <a:ext uri="{FF2B5EF4-FFF2-40B4-BE49-F238E27FC236}">
                <a16:creationId xmlns:a16="http://schemas.microsoft.com/office/drawing/2014/main" id="{32614155-12DE-4313-B60A-8B47151A14C0}"/>
              </a:ext>
            </a:extLst>
          </p:cNvPr>
          <p:cNvSpPr>
            <a:spLocks xmlns:a="http://schemas.openxmlformats.org/drawingml/2006/main" noGrp="1"/>
          </p:cNvSpPr>
          <p:nvPr/>
        </p:nvSpPr>
        <p:spPr>
          <a:xfrm xmlns:a="http://schemas.openxmlformats.org/drawingml/2006/main">
            <a:off x="819150" y="3562350"/>
            <a:ext cx="76200" cy="857250"/>
          </a:xfrm>
          <a:prstGeom xmlns:a="http://schemas.openxmlformats.org/drawingml/2006/main" prst="rect">
            <a:avLst/>
          </a:prstGeom>
          <a:solidFill xmlns:a="http://schemas.openxmlformats.org/drawingml/2006/main">
            <a:srgbClr val="C8464B"/>
          </a:solidFill>
          <a:ln xmlns:a="http://schemas.openxmlformats.org/drawingml/2006/main" w="9525">
            <a:solidFill>
              <a:srgbClr val="C8464B"/>
            </a:solidFill>
            <a:prstDash val="solid"/>
          </a:ln>
        </p:spPr>
      </p:sp>
      <p:sp>
        <p:nvSpPr>
          <p:cNvPr id="8" name="fragmented-1-title">
            <a:extLst xmlns:a="http://schemas.openxmlformats.org/drawingml/2006/main">
              <a:ext uri="{FF2B5EF4-FFF2-40B4-BE49-F238E27FC236}">
                <a16:creationId xmlns:a16="http://schemas.microsoft.com/office/drawing/2014/main" id="{9C3D2B21-A26A-4D93-8473-0FD8FB38EEF7}"/>
              </a:ext>
            </a:extLst>
          </p:cNvPr>
          <p:cNvSpPr>
            <a:spLocks xmlns:a="http://schemas.openxmlformats.org/drawingml/2006/main" noGrp="1"/>
          </p:cNvSpPr>
          <p:nvPr/>
        </p:nvSpPr>
        <p:spPr>
          <a:xfrm xmlns:a="http://schemas.openxmlformats.org/drawingml/2006/main">
            <a:off x="1085850" y="3524250"/>
            <a:ext cx="3924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242D"/>
                </a:solidFill>
                <a:latin typeface="Arial"/>
                <a:ea typeface="Arial"/>
                <a:cs typeface="Arial"/>
              </a:defRPr>
            </a:pPr>
            <a:r>
              <a:rPr sz="1950" b="1">
                <a:solidFill>
                  <a:srgbClr val="11242D"/>
                </a:solidFill>
                <a:latin typeface="Arial"/>
                <a:ea typeface="Arial"/>
                <a:cs typeface="Arial"/>
              </a:rPr>
              <a:t>Manual reconciliation</a:t>
            </a:r>
          </a:p>
        </p:txBody>
      </p:sp>
      <p:sp>
        <p:nvSpPr>
          <p:cNvPr id="9" name="fragmented-1-body">
            <a:extLst xmlns:a="http://schemas.openxmlformats.org/drawingml/2006/main">
              <a:ext uri="{FF2B5EF4-FFF2-40B4-BE49-F238E27FC236}">
                <a16:creationId xmlns:a16="http://schemas.microsoft.com/office/drawing/2014/main" id="{AD5D686A-0AF5-433C-9723-9A028A146F43}"/>
              </a:ext>
            </a:extLst>
          </p:cNvPr>
          <p:cNvSpPr>
            <a:spLocks xmlns:a="http://schemas.openxmlformats.org/drawingml/2006/main" noGrp="1"/>
          </p:cNvSpPr>
          <p:nvPr/>
        </p:nvSpPr>
        <p:spPr>
          <a:xfrm xmlns:a="http://schemas.openxmlformats.org/drawingml/2006/main">
            <a:off x="1085850" y="3905250"/>
            <a:ext cx="3924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66F"/>
                </a:solidFill>
                <a:latin typeface="Arial"/>
                <a:ea typeface="Arial"/>
                <a:cs typeface="Arial"/>
              </a:defRPr>
            </a:pPr>
            <a:r>
              <a:rPr sz="1425" b="0">
                <a:solidFill>
                  <a:srgbClr val="52666F"/>
                </a:solidFill>
                <a:latin typeface="Arial"/>
                <a:ea typeface="Arial"/>
                <a:cs typeface="Arial"/>
              </a:rPr>
              <a:t>Readings, tariffs and tenant records can live in separate places.</a:t>
            </a:r>
          </a:p>
        </p:txBody>
      </p:sp>
      <p:sp>
        <p:nvSpPr>
          <p:cNvPr id="10" name="fragmented-2-bar">
            <a:extLst xmlns:a="http://schemas.openxmlformats.org/drawingml/2006/main">
              <a:ext uri="{FF2B5EF4-FFF2-40B4-BE49-F238E27FC236}">
                <a16:creationId xmlns:a16="http://schemas.microsoft.com/office/drawing/2014/main" id="{C0A311CC-F76F-4FF8-978D-1FF87B83489A}"/>
              </a:ext>
            </a:extLst>
          </p:cNvPr>
          <p:cNvSpPr>
            <a:spLocks xmlns:a="http://schemas.openxmlformats.org/drawingml/2006/main" noGrp="1"/>
          </p:cNvSpPr>
          <p:nvPr/>
        </p:nvSpPr>
        <p:spPr>
          <a:xfrm xmlns:a="http://schemas.openxmlformats.org/drawingml/2006/main">
            <a:off x="819150" y="4562475"/>
            <a:ext cx="76200" cy="857250"/>
          </a:xfrm>
          <a:prstGeom xmlns:a="http://schemas.openxmlformats.org/drawingml/2006/main" prst="rect">
            <a:avLst/>
          </a:prstGeom>
          <a:solidFill xmlns:a="http://schemas.openxmlformats.org/drawingml/2006/main">
            <a:srgbClr val="C8464B"/>
          </a:solidFill>
          <a:ln xmlns:a="http://schemas.openxmlformats.org/drawingml/2006/main" w="9525">
            <a:solidFill>
              <a:srgbClr val="C8464B"/>
            </a:solidFill>
            <a:prstDash val="solid"/>
          </a:ln>
        </p:spPr>
      </p:sp>
      <p:sp>
        <p:nvSpPr>
          <p:cNvPr id="11" name="fragmented-2-title">
            <a:extLst xmlns:a="http://schemas.openxmlformats.org/drawingml/2006/main">
              <a:ext uri="{FF2B5EF4-FFF2-40B4-BE49-F238E27FC236}">
                <a16:creationId xmlns:a16="http://schemas.microsoft.com/office/drawing/2014/main" id="{5CC41318-16BB-452F-9B8A-B6A5D9597999}"/>
              </a:ext>
            </a:extLst>
          </p:cNvPr>
          <p:cNvSpPr>
            <a:spLocks xmlns:a="http://schemas.openxmlformats.org/drawingml/2006/main" noGrp="1"/>
          </p:cNvSpPr>
          <p:nvPr/>
        </p:nvSpPr>
        <p:spPr>
          <a:xfrm xmlns:a="http://schemas.openxmlformats.org/drawingml/2006/main">
            <a:off x="1085850" y="4524375"/>
            <a:ext cx="3924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242D"/>
                </a:solidFill>
                <a:latin typeface="Arial"/>
                <a:ea typeface="Arial"/>
                <a:cs typeface="Arial"/>
              </a:defRPr>
            </a:pPr>
            <a:r>
              <a:rPr sz="1950" b="1">
                <a:solidFill>
                  <a:srgbClr val="11242D"/>
                </a:solidFill>
                <a:latin typeface="Arial"/>
                <a:ea typeface="Arial"/>
                <a:cs typeface="Arial"/>
              </a:rPr>
              <a:t>Slow exception handling</a:t>
            </a:r>
          </a:p>
        </p:txBody>
      </p:sp>
      <p:sp>
        <p:nvSpPr>
          <p:cNvPr id="12" name="fragmented-2-body">
            <a:extLst xmlns:a="http://schemas.openxmlformats.org/drawingml/2006/main">
              <a:ext uri="{FF2B5EF4-FFF2-40B4-BE49-F238E27FC236}">
                <a16:creationId xmlns:a16="http://schemas.microsoft.com/office/drawing/2014/main" id="{E58D5F9E-B609-4179-8257-2E308093D50B}"/>
              </a:ext>
            </a:extLst>
          </p:cNvPr>
          <p:cNvSpPr>
            <a:spLocks xmlns:a="http://schemas.openxmlformats.org/drawingml/2006/main" noGrp="1"/>
          </p:cNvSpPr>
          <p:nvPr/>
        </p:nvSpPr>
        <p:spPr>
          <a:xfrm xmlns:a="http://schemas.openxmlformats.org/drawingml/2006/main">
            <a:off x="1085850" y="4905375"/>
            <a:ext cx="3924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66F"/>
                </a:solidFill>
                <a:latin typeface="Arial"/>
                <a:ea typeface="Arial"/>
                <a:cs typeface="Arial"/>
              </a:defRPr>
            </a:pPr>
            <a:r>
              <a:rPr sz="1425" b="0">
                <a:solidFill>
                  <a:srgbClr val="52666F"/>
                </a:solidFill>
                <a:latin typeface="Arial"/>
                <a:ea typeface="Arial"/>
                <a:cs typeface="Arial"/>
              </a:rPr>
              <a:t>Communication failures and unusual readings are harder to spot early.</a:t>
            </a:r>
          </a:p>
        </p:txBody>
      </p:sp>
      <p:sp>
        <p:nvSpPr>
          <p:cNvPr id="13" name="integrated-panel">
            <a:extLst xmlns:a="http://schemas.openxmlformats.org/drawingml/2006/main">
              <a:ext uri="{FF2B5EF4-FFF2-40B4-BE49-F238E27FC236}">
                <a16:creationId xmlns:a16="http://schemas.microsoft.com/office/drawing/2014/main" id="{1FF5445B-0FFE-4CC5-B0A0-1DEAAA616028}"/>
              </a:ext>
            </a:extLst>
          </p:cNvPr>
          <p:cNvSpPr>
            <a:spLocks xmlns:a="http://schemas.openxmlformats.org/drawingml/2006/main" noGrp="1"/>
          </p:cNvSpPr>
          <p:nvPr/>
        </p:nvSpPr>
        <p:spPr>
          <a:xfrm xmlns:a="http://schemas.openxmlformats.org/drawingml/2006/main">
            <a:off x="6029325" y="2619375"/>
            <a:ext cx="5629275" cy="2952750"/>
          </a:xfrm>
          <a:prstGeom xmlns:a="http://schemas.openxmlformats.org/drawingml/2006/main" prst="rect">
            <a:avLst/>
          </a:prstGeom>
          <a:solidFill xmlns:a="http://schemas.openxmlformats.org/drawingml/2006/main">
            <a:srgbClr val="DDF2EE"/>
          </a:solidFill>
          <a:ln xmlns:a="http://schemas.openxmlformats.org/drawingml/2006/main" w="9525">
            <a:solidFill>
              <a:srgbClr val="DDF2EE"/>
            </a:solidFill>
            <a:prstDash val="solid"/>
          </a:ln>
        </p:spPr>
      </p:sp>
      <p:sp>
        <p:nvSpPr>
          <p:cNvPr id="14" name="integrated-title">
            <a:extLst xmlns:a="http://schemas.openxmlformats.org/drawingml/2006/main">
              <a:ext uri="{FF2B5EF4-FFF2-40B4-BE49-F238E27FC236}">
                <a16:creationId xmlns:a16="http://schemas.microsoft.com/office/drawing/2014/main" id="{2EF29909-A111-420D-9BCD-7B978E5852C1}"/>
              </a:ext>
            </a:extLst>
          </p:cNvPr>
          <p:cNvSpPr>
            <a:spLocks xmlns:a="http://schemas.openxmlformats.org/drawingml/2006/main" noGrp="1"/>
          </p:cNvSpPr>
          <p:nvPr/>
        </p:nvSpPr>
        <p:spPr>
          <a:xfrm xmlns:a="http://schemas.openxmlformats.org/drawingml/2006/main">
            <a:off x="6315075" y="2905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B2838"/>
                </a:solidFill>
                <a:latin typeface="Arial"/>
                <a:ea typeface="Arial"/>
                <a:cs typeface="Arial"/>
              </a:defRPr>
            </a:pPr>
            <a:r>
              <a:rPr sz="2250" b="1">
                <a:solidFill>
                  <a:srgbClr val="0B2838"/>
                </a:solidFill>
                <a:latin typeface="Arial"/>
                <a:ea typeface="Arial"/>
                <a:cs typeface="Arial"/>
              </a:rPr>
              <a:t>With Watch Dog EM</a:t>
            </a:r>
          </a:p>
        </p:txBody>
      </p:sp>
      <p:sp>
        <p:nvSpPr>
          <p:cNvPr id="15" name="integrated-1-bar">
            <a:extLst xmlns:a="http://schemas.openxmlformats.org/drawingml/2006/main">
              <a:ext uri="{FF2B5EF4-FFF2-40B4-BE49-F238E27FC236}">
                <a16:creationId xmlns:a16="http://schemas.microsoft.com/office/drawing/2014/main" id="{DB8021BB-AC94-4F9C-BDBD-6ADDDF9350AE}"/>
              </a:ext>
            </a:extLst>
          </p:cNvPr>
          <p:cNvSpPr>
            <a:spLocks xmlns:a="http://schemas.openxmlformats.org/drawingml/2006/main" noGrp="1"/>
          </p:cNvSpPr>
          <p:nvPr/>
        </p:nvSpPr>
        <p:spPr>
          <a:xfrm xmlns:a="http://schemas.openxmlformats.org/drawingml/2006/main">
            <a:off x="6315075" y="3562350"/>
            <a:ext cx="76200" cy="857250"/>
          </a:xfrm>
          <a:prstGeom xmlns:a="http://schemas.openxmlformats.org/drawingml/2006/main" prst="rect">
            <a:avLst/>
          </a:prstGeom>
          <a:solidFill xmlns:a="http://schemas.openxmlformats.org/drawingml/2006/main">
            <a:srgbClr val="0A8F88"/>
          </a:solidFill>
          <a:ln xmlns:a="http://schemas.openxmlformats.org/drawingml/2006/main" w="9525">
            <a:solidFill>
              <a:srgbClr val="0A8F88"/>
            </a:solidFill>
            <a:prstDash val="solid"/>
          </a:ln>
        </p:spPr>
      </p:sp>
      <p:sp>
        <p:nvSpPr>
          <p:cNvPr id="16" name="integrated-1-title">
            <a:extLst xmlns:a="http://schemas.openxmlformats.org/drawingml/2006/main">
              <a:ext uri="{FF2B5EF4-FFF2-40B4-BE49-F238E27FC236}">
                <a16:creationId xmlns:a16="http://schemas.microsoft.com/office/drawing/2014/main" id="{A7C8DCBE-3C18-4B30-A456-4A5FA52C6237}"/>
              </a:ext>
            </a:extLst>
          </p:cNvPr>
          <p:cNvSpPr>
            <a:spLocks xmlns:a="http://schemas.openxmlformats.org/drawingml/2006/main" noGrp="1"/>
          </p:cNvSpPr>
          <p:nvPr/>
        </p:nvSpPr>
        <p:spPr>
          <a:xfrm xmlns:a="http://schemas.openxmlformats.org/drawingml/2006/main">
            <a:off x="6581775" y="3524250"/>
            <a:ext cx="4257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242D"/>
                </a:solidFill>
                <a:latin typeface="Arial"/>
                <a:ea typeface="Arial"/>
                <a:cs typeface="Arial"/>
              </a:defRPr>
            </a:pPr>
            <a:r>
              <a:rPr sz="1950" b="1">
                <a:solidFill>
                  <a:srgbClr val="11242D"/>
                </a:solidFill>
                <a:latin typeface="Arial"/>
                <a:ea typeface="Arial"/>
                <a:cs typeface="Arial"/>
              </a:rPr>
              <a:t>One operational record</a:t>
            </a:r>
          </a:p>
        </p:txBody>
      </p:sp>
      <p:sp>
        <p:nvSpPr>
          <p:cNvPr id="17" name="integrated-1-body">
            <a:extLst xmlns:a="http://schemas.openxmlformats.org/drawingml/2006/main">
              <a:ext uri="{FF2B5EF4-FFF2-40B4-BE49-F238E27FC236}">
                <a16:creationId xmlns:a16="http://schemas.microsoft.com/office/drawing/2014/main" id="{E5E6D1BD-61F3-4D51-A0C1-995FB357C3AF}"/>
              </a:ext>
            </a:extLst>
          </p:cNvPr>
          <p:cNvSpPr>
            <a:spLocks xmlns:a="http://schemas.openxmlformats.org/drawingml/2006/main" noGrp="1"/>
          </p:cNvSpPr>
          <p:nvPr/>
        </p:nvSpPr>
        <p:spPr>
          <a:xfrm xmlns:a="http://schemas.openxmlformats.org/drawingml/2006/main">
            <a:off x="6581775" y="3905250"/>
            <a:ext cx="42576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66F"/>
                </a:solidFill>
                <a:latin typeface="Arial"/>
                <a:ea typeface="Arial"/>
                <a:cs typeface="Arial"/>
              </a:defRPr>
            </a:pPr>
            <a:r>
              <a:rPr sz="1425" b="0">
                <a:solidFill>
                  <a:srgbClr val="52666F"/>
                </a:solidFill>
                <a:latin typeface="Arial"/>
                <a:ea typeface="Arial"/>
                <a:cs typeface="Arial"/>
              </a:rPr>
              <a:t>Meters, shops, tariffs, invoices and payments stay connected.</a:t>
            </a:r>
          </a:p>
        </p:txBody>
      </p:sp>
      <p:sp>
        <p:nvSpPr>
          <p:cNvPr id="18" name="integrated-2-bar">
            <a:extLst xmlns:a="http://schemas.openxmlformats.org/drawingml/2006/main">
              <a:ext uri="{FF2B5EF4-FFF2-40B4-BE49-F238E27FC236}">
                <a16:creationId xmlns:a16="http://schemas.microsoft.com/office/drawing/2014/main" id="{68047F49-AB05-44F1-B445-3DC2F1E69814}"/>
              </a:ext>
            </a:extLst>
          </p:cNvPr>
          <p:cNvSpPr>
            <a:spLocks xmlns:a="http://schemas.openxmlformats.org/drawingml/2006/main" noGrp="1"/>
          </p:cNvSpPr>
          <p:nvPr/>
        </p:nvSpPr>
        <p:spPr>
          <a:xfrm xmlns:a="http://schemas.openxmlformats.org/drawingml/2006/main">
            <a:off x="6315075" y="4562475"/>
            <a:ext cx="76200" cy="857250"/>
          </a:xfrm>
          <a:prstGeom xmlns:a="http://schemas.openxmlformats.org/drawingml/2006/main" prst="rect">
            <a:avLst/>
          </a:prstGeom>
          <a:solidFill xmlns:a="http://schemas.openxmlformats.org/drawingml/2006/main">
            <a:srgbClr val="0A8F88"/>
          </a:solidFill>
          <a:ln xmlns:a="http://schemas.openxmlformats.org/drawingml/2006/main" w="9525">
            <a:solidFill>
              <a:srgbClr val="0A8F88"/>
            </a:solidFill>
            <a:prstDash val="solid"/>
          </a:ln>
        </p:spPr>
      </p:sp>
      <p:sp>
        <p:nvSpPr>
          <p:cNvPr id="19" name="integrated-2-title">
            <a:extLst xmlns:a="http://schemas.openxmlformats.org/drawingml/2006/main">
              <a:ext uri="{FF2B5EF4-FFF2-40B4-BE49-F238E27FC236}">
                <a16:creationId xmlns:a16="http://schemas.microsoft.com/office/drawing/2014/main" id="{7D776BAB-2AAD-4F03-A196-53A00E0B5F94}"/>
              </a:ext>
            </a:extLst>
          </p:cNvPr>
          <p:cNvSpPr>
            <a:spLocks xmlns:a="http://schemas.openxmlformats.org/drawingml/2006/main" noGrp="1"/>
          </p:cNvSpPr>
          <p:nvPr/>
        </p:nvSpPr>
        <p:spPr>
          <a:xfrm xmlns:a="http://schemas.openxmlformats.org/drawingml/2006/main">
            <a:off x="6581775" y="4524375"/>
            <a:ext cx="4257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242D"/>
                </a:solidFill>
                <a:latin typeface="Arial"/>
                <a:ea typeface="Arial"/>
                <a:cs typeface="Arial"/>
              </a:defRPr>
            </a:pPr>
            <a:r>
              <a:rPr sz="1950" b="1">
                <a:solidFill>
                  <a:srgbClr val="11242D"/>
                </a:solidFill>
                <a:latin typeface="Arial"/>
                <a:ea typeface="Arial"/>
                <a:cs typeface="Arial"/>
              </a:rPr>
              <a:t>Management by exception</a:t>
            </a:r>
          </a:p>
        </p:txBody>
      </p:sp>
      <p:sp>
        <p:nvSpPr>
          <p:cNvPr id="20" name="integrated-2-body">
            <a:extLst xmlns:a="http://schemas.openxmlformats.org/drawingml/2006/main">
              <a:ext uri="{FF2B5EF4-FFF2-40B4-BE49-F238E27FC236}">
                <a16:creationId xmlns:a16="http://schemas.microsoft.com/office/drawing/2014/main" id="{262A5EC8-FDF0-412F-A45E-7303DD8DB5C9}"/>
              </a:ext>
            </a:extLst>
          </p:cNvPr>
          <p:cNvSpPr>
            <a:spLocks xmlns:a="http://schemas.openxmlformats.org/drawingml/2006/main" noGrp="1"/>
          </p:cNvSpPr>
          <p:nvPr/>
        </p:nvSpPr>
        <p:spPr>
          <a:xfrm xmlns:a="http://schemas.openxmlformats.org/drawingml/2006/main">
            <a:off x="6581775" y="4905375"/>
            <a:ext cx="42576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66F"/>
                </a:solidFill>
                <a:latin typeface="Arial"/>
                <a:ea typeface="Arial"/>
                <a:cs typeface="Arial"/>
              </a:defRPr>
            </a:pPr>
            <a:r>
              <a:rPr sz="1425" b="0">
                <a:solidFill>
                  <a:srgbClr val="52666F"/>
                </a:solidFill>
                <a:latin typeface="Arial"/>
                <a:ea typeface="Arial"/>
                <a:cs typeface="Arial"/>
              </a:rPr>
              <a:t>The dashboard highlights status, alarms, balances and billing progress.</a:t>
            </a:r>
          </a:p>
        </p:txBody>
      </p:sp>
      <p:sp>
        <p:nvSpPr>
          <p:cNvPr id="21" name="footer-brand-2">
            <a:extLst xmlns:a="http://schemas.openxmlformats.org/drawingml/2006/main">
              <a:ext uri="{FF2B5EF4-FFF2-40B4-BE49-F238E27FC236}">
                <a16:creationId xmlns:a16="http://schemas.microsoft.com/office/drawing/2014/main" id="{DB02A057-1D67-4A71-B31E-A700F98C99CF}"/>
              </a:ext>
            </a:extLst>
          </p:cNvPr>
          <p:cNvSpPr>
            <a:spLocks xmlns:a="http://schemas.openxmlformats.org/drawingml/2006/main" noGrp="1"/>
          </p:cNvSpPr>
          <p:nvPr/>
        </p:nvSpPr>
        <p:spPr>
          <a:xfrm xmlns:a="http://schemas.openxmlformats.org/drawingml/2006/main">
            <a:off x="533400" y="64389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2666F"/>
                </a:solidFill>
                <a:latin typeface="Arial"/>
                <a:ea typeface="Arial"/>
                <a:cs typeface="Arial"/>
              </a:defRPr>
            </a:pPr>
            <a:r>
              <a:rPr sz="975" b="0">
                <a:solidFill>
                  <a:srgbClr val="52666F"/>
                </a:solidFill>
                <a:latin typeface="Arial"/>
                <a:ea typeface="Arial"/>
                <a:cs typeface="Arial"/>
              </a:rPr>
              <a:t>Watch Every Watt · By MicroBrain</a:t>
            </a:r>
          </a:p>
        </p:txBody>
      </p:sp>
      <p:sp>
        <p:nvSpPr>
          <p:cNvPr id="22" name="footer-number-2">
            <a:extLst xmlns:a="http://schemas.openxmlformats.org/drawingml/2006/main">
              <a:ext uri="{FF2B5EF4-FFF2-40B4-BE49-F238E27FC236}">
                <a16:creationId xmlns:a16="http://schemas.microsoft.com/office/drawing/2014/main" id="{3786A8F8-2EDC-4D53-914F-23B4DE915966}"/>
              </a:ext>
            </a:extLst>
          </p:cNvPr>
          <p:cNvSpPr>
            <a:spLocks xmlns:a="http://schemas.openxmlformats.org/drawingml/2006/main" noGrp="1"/>
          </p:cNvSpPr>
          <p:nvPr/>
        </p:nvSpPr>
        <p:spPr>
          <a:xfrm xmlns:a="http://schemas.openxmlformats.org/drawingml/2006/main">
            <a:off x="11144250" y="64389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2666F"/>
                </a:solidFill>
                <a:latin typeface="Arial"/>
                <a:ea typeface="Arial"/>
                <a:cs typeface="Arial"/>
              </a:defRPr>
            </a:pPr>
            <a:r>
              <a:rPr sz="975" b="1">
                <a:solidFill>
                  <a:srgbClr val="52666F"/>
                </a:solidFill>
                <a:latin typeface="Arial"/>
                <a:ea typeface="Arial"/>
                <a:cs typeface="Arial"/>
              </a:rPr>
              <a:t>02</a:t>
            </a:r>
          </a:p>
        </p:txBody>
      </p:sp>
    </p:spTree>
    <p:extLst>
      <p:ext uri="{BB962C8B-B14F-4D97-AF65-F5344CB8AC3E}">
        <p14:creationId xmlns:p14="http://schemas.microsoft.com/office/powerpoint/2010/main" val="17853743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kicker-3">
            <a:extLst xmlns:a="http://schemas.openxmlformats.org/drawingml/2006/main">
              <a:ext uri="{FF2B5EF4-FFF2-40B4-BE49-F238E27FC236}">
                <a16:creationId xmlns:a16="http://schemas.microsoft.com/office/drawing/2014/main" id="{0934F927-26DE-4509-974A-8E6F384B3B7E}"/>
              </a:ext>
            </a:extLst>
          </p:cNvPr>
          <p:cNvSpPr>
            <a:spLocks xmlns:a="http://schemas.openxmlformats.org/drawingml/2006/main" noGrp="1"/>
          </p:cNvSpPr>
          <p:nvPr/>
        </p:nvSpPr>
        <p:spPr>
          <a:xfrm xmlns:a="http://schemas.openxmlformats.org/drawingml/2006/main">
            <a:off x="53340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8F88"/>
                </a:solidFill>
                <a:latin typeface="Arial"/>
                <a:ea typeface="Arial"/>
                <a:cs typeface="Arial"/>
              </a:defRPr>
            </a:pPr>
            <a:r>
              <a:rPr sz="1050" b="1">
                <a:solidFill>
                  <a:srgbClr val="0A8F88"/>
                </a:solidFill>
                <a:latin typeface="Arial"/>
                <a:ea typeface="Arial"/>
                <a:cs typeface="Arial"/>
              </a:rPr>
              <a:t>WATCH DOG EM</a:t>
            </a:r>
          </a:p>
        </p:txBody>
      </p:sp>
      <p:sp>
        <p:nvSpPr>
          <p:cNvPr id="2" name="title-3">
            <a:extLst xmlns:a="http://schemas.openxmlformats.org/drawingml/2006/main">
              <a:ext uri="{FF2B5EF4-FFF2-40B4-BE49-F238E27FC236}">
                <a16:creationId xmlns:a16="http://schemas.microsoft.com/office/drawing/2014/main" id="{DC51EC30-F697-4099-938D-BA1CE18DC227}"/>
              </a:ext>
            </a:extLst>
          </p:cNvPr>
          <p:cNvSpPr>
            <a:spLocks xmlns:a="http://schemas.openxmlformats.org/drawingml/2006/main" noGrp="1"/>
          </p:cNvSpPr>
          <p:nvPr/>
        </p:nvSpPr>
        <p:spPr>
          <a:xfrm xmlns:a="http://schemas.openxmlformats.org/drawingml/2006/main">
            <a:off x="533400" y="6667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1242D"/>
                </a:solidFill>
                <a:latin typeface="Arial"/>
                <a:ea typeface="Arial"/>
                <a:cs typeface="Arial"/>
              </a:defRPr>
            </a:pPr>
            <a:r>
              <a:rPr sz="3600" b="1">
                <a:solidFill>
                  <a:srgbClr val="11242D"/>
                </a:solidFill>
                <a:latin typeface="Arial"/>
                <a:ea typeface="Arial"/>
                <a:cs typeface="Arial"/>
              </a:rPr>
              <a:t>One platform connects energy data to money</a:t>
            </a:r>
          </a:p>
        </p:txBody>
      </p:sp>
      <p:cxnSp>
        <p:nvCxnSpPr>
          <p:cNvPr id="24" name="header-rule-3"/>
          <p:cNvCxnSpPr/>
          <p:nvPr/>
        </p:nvCxnSpPr>
        <p:spPr>
          <a:xfrm xmlns:a="http://schemas.openxmlformats.org/drawingml/2006/main">
            <a:off x="533400" y="1428750"/>
            <a:ext cx="11125200" cy="0"/>
          </a:xfrm>
          <a:prstGeom xmlns:a="http://schemas.openxmlformats.org/drawingml/2006/main" prst="straightConnector1">
            <a:avLst/>
          </a:prstGeom>
          <a:ln xmlns:a="http://schemas.openxmlformats.org/drawingml/2006/main" w="9525">
            <a:solidFill>
              <a:srgbClr val="B7C4CA"/>
            </a:solidFill>
            <a:prstDash val="solid"/>
          </a:ln>
        </p:spPr>
      </p:cxnSp>
      <p:sp>
        <p:nvSpPr>
          <p:cNvPr id="4" name="cap-number-0">
            <a:extLst xmlns:a="http://schemas.openxmlformats.org/drawingml/2006/main">
              <a:ext uri="{FF2B5EF4-FFF2-40B4-BE49-F238E27FC236}">
                <a16:creationId xmlns:a16="http://schemas.microsoft.com/office/drawing/2014/main" id="{365E36B0-CEDF-42A8-B2AE-476CEEACBB25}"/>
              </a:ext>
            </a:extLst>
          </p:cNvPr>
          <p:cNvSpPr>
            <a:spLocks xmlns:a="http://schemas.openxmlformats.org/drawingml/2006/main" noGrp="1"/>
          </p:cNvSpPr>
          <p:nvPr/>
        </p:nvSpPr>
        <p:spPr>
          <a:xfrm xmlns:a="http://schemas.openxmlformats.org/drawingml/2006/main">
            <a:off x="533400" y="18097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A8F88"/>
                </a:solidFill>
                <a:latin typeface="Arial"/>
                <a:ea typeface="Arial"/>
                <a:cs typeface="Arial"/>
              </a:defRPr>
            </a:pPr>
            <a:r>
              <a:rPr sz="2850" b="1">
                <a:solidFill>
                  <a:srgbClr val="0A8F88"/>
                </a:solidFill>
                <a:latin typeface="Arial"/>
                <a:ea typeface="Arial"/>
                <a:cs typeface="Arial"/>
              </a:rPr>
              <a:t>01</a:t>
            </a:r>
          </a:p>
        </p:txBody>
      </p:sp>
      <p:sp>
        <p:nvSpPr>
          <p:cNvPr id="5" name="cap-title-0">
            <a:extLst xmlns:a="http://schemas.openxmlformats.org/drawingml/2006/main">
              <a:ext uri="{FF2B5EF4-FFF2-40B4-BE49-F238E27FC236}">
                <a16:creationId xmlns:a16="http://schemas.microsoft.com/office/drawing/2014/main" id="{23050757-4C9E-41CA-82A6-E8F88CA6591D}"/>
              </a:ext>
            </a:extLst>
          </p:cNvPr>
          <p:cNvSpPr>
            <a:spLocks xmlns:a="http://schemas.openxmlformats.org/drawingml/2006/main" noGrp="1"/>
          </p:cNvSpPr>
          <p:nvPr/>
        </p:nvSpPr>
        <p:spPr>
          <a:xfrm xmlns:a="http://schemas.openxmlformats.org/drawingml/2006/main">
            <a:off x="1409700" y="18288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242D"/>
                </a:solidFill>
                <a:latin typeface="Arial"/>
                <a:ea typeface="Arial"/>
                <a:cs typeface="Arial"/>
              </a:defRPr>
            </a:pPr>
            <a:r>
              <a:rPr sz="2250" b="1">
                <a:solidFill>
                  <a:srgbClr val="11242D"/>
                </a:solidFill>
                <a:latin typeface="Arial"/>
                <a:ea typeface="Arial"/>
                <a:cs typeface="Arial"/>
              </a:rPr>
              <a:t>Acquire</a:t>
            </a:r>
          </a:p>
        </p:txBody>
      </p:sp>
      <p:sp>
        <p:nvSpPr>
          <p:cNvPr id="6" name="cap-body-0">
            <a:extLst xmlns:a="http://schemas.openxmlformats.org/drawingml/2006/main">
              <a:ext uri="{FF2B5EF4-FFF2-40B4-BE49-F238E27FC236}">
                <a16:creationId xmlns:a16="http://schemas.microsoft.com/office/drawing/2014/main" id="{F70178D8-5E80-4666-A03C-9347A2EE2B71}"/>
              </a:ext>
            </a:extLst>
          </p:cNvPr>
          <p:cNvSpPr>
            <a:spLocks xmlns:a="http://schemas.openxmlformats.org/drawingml/2006/main" noGrp="1"/>
          </p:cNvSpPr>
          <p:nvPr/>
        </p:nvSpPr>
        <p:spPr>
          <a:xfrm xmlns:a="http://schemas.openxmlformats.org/drawingml/2006/main">
            <a:off x="1409700" y="2362200"/>
            <a:ext cx="4476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66F"/>
                </a:solidFill>
                <a:latin typeface="Arial"/>
                <a:ea typeface="Arial"/>
                <a:cs typeface="Arial"/>
              </a:defRPr>
            </a:pPr>
            <a:r>
              <a:rPr sz="1500" b="0">
                <a:solidFill>
                  <a:srgbClr val="52666F"/>
                </a:solidFill>
                <a:latin typeface="Arial"/>
                <a:ea typeface="Arial"/>
                <a:cs typeface="Arial"/>
              </a:rPr>
              <a:t>Poll physical meters through Modbus RTU controllers and store timestamped readings.</a:t>
            </a:r>
          </a:p>
        </p:txBody>
      </p:sp>
      <p:cxnSp>
        <p:nvCxnSpPr>
          <p:cNvPr id="28" name="cap-rule-0"/>
          <p:cNvCxnSpPr/>
          <p:nvPr/>
        </p:nvCxnSpPr>
        <p:spPr>
          <a:xfrm xmlns:a="http://schemas.openxmlformats.org/drawingml/2006/main">
            <a:off x="533400" y="3524250"/>
            <a:ext cx="4953000" cy="0"/>
          </a:xfrm>
          <a:prstGeom xmlns:a="http://schemas.openxmlformats.org/drawingml/2006/main" prst="straightConnector1">
            <a:avLst/>
          </a:prstGeom>
          <a:ln xmlns:a="http://schemas.openxmlformats.org/drawingml/2006/main" w="9525">
            <a:solidFill>
              <a:srgbClr val="B7C4CA"/>
            </a:solidFill>
            <a:prstDash val="solid"/>
          </a:ln>
        </p:spPr>
      </p:cxnSp>
      <p:sp>
        <p:nvSpPr>
          <p:cNvPr id="8" name="cap-number-1">
            <a:extLst xmlns:a="http://schemas.openxmlformats.org/drawingml/2006/main">
              <a:ext uri="{FF2B5EF4-FFF2-40B4-BE49-F238E27FC236}">
                <a16:creationId xmlns:a16="http://schemas.microsoft.com/office/drawing/2014/main" id="{356B4243-0532-41E5-82EC-97352CBC5B5A}"/>
              </a:ext>
            </a:extLst>
          </p:cNvPr>
          <p:cNvSpPr>
            <a:spLocks xmlns:a="http://schemas.openxmlformats.org/drawingml/2006/main" noGrp="1"/>
          </p:cNvSpPr>
          <p:nvPr/>
        </p:nvSpPr>
        <p:spPr>
          <a:xfrm xmlns:a="http://schemas.openxmlformats.org/drawingml/2006/main">
            <a:off x="6191250" y="18097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A8F88"/>
                </a:solidFill>
                <a:latin typeface="Arial"/>
                <a:ea typeface="Arial"/>
                <a:cs typeface="Arial"/>
              </a:defRPr>
            </a:pPr>
            <a:r>
              <a:rPr sz="2850" b="1">
                <a:solidFill>
                  <a:srgbClr val="0A8F88"/>
                </a:solidFill>
                <a:latin typeface="Arial"/>
                <a:ea typeface="Arial"/>
                <a:cs typeface="Arial"/>
              </a:rPr>
              <a:t>02</a:t>
            </a:r>
          </a:p>
        </p:txBody>
      </p:sp>
      <p:sp>
        <p:nvSpPr>
          <p:cNvPr id="9" name="cap-title-1">
            <a:extLst xmlns:a="http://schemas.openxmlformats.org/drawingml/2006/main">
              <a:ext uri="{FF2B5EF4-FFF2-40B4-BE49-F238E27FC236}">
                <a16:creationId xmlns:a16="http://schemas.microsoft.com/office/drawing/2014/main" id="{8110CBB8-876B-4048-865C-2B445D56489D}"/>
              </a:ext>
            </a:extLst>
          </p:cNvPr>
          <p:cNvSpPr>
            <a:spLocks xmlns:a="http://schemas.openxmlformats.org/drawingml/2006/main" noGrp="1"/>
          </p:cNvSpPr>
          <p:nvPr/>
        </p:nvSpPr>
        <p:spPr>
          <a:xfrm xmlns:a="http://schemas.openxmlformats.org/drawingml/2006/main">
            <a:off x="7067550" y="18288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242D"/>
                </a:solidFill>
                <a:latin typeface="Arial"/>
                <a:ea typeface="Arial"/>
                <a:cs typeface="Arial"/>
              </a:defRPr>
            </a:pPr>
            <a:r>
              <a:rPr sz="2250" b="1">
                <a:solidFill>
                  <a:srgbClr val="11242D"/>
                </a:solidFill>
                <a:latin typeface="Arial"/>
                <a:ea typeface="Arial"/>
                <a:cs typeface="Arial"/>
              </a:rPr>
              <a:t>Monitor</a:t>
            </a:r>
          </a:p>
        </p:txBody>
      </p:sp>
      <p:sp>
        <p:nvSpPr>
          <p:cNvPr id="10" name="cap-body-1">
            <a:extLst xmlns:a="http://schemas.openxmlformats.org/drawingml/2006/main">
              <a:ext uri="{FF2B5EF4-FFF2-40B4-BE49-F238E27FC236}">
                <a16:creationId xmlns:a16="http://schemas.microsoft.com/office/drawing/2014/main" id="{7BCDF604-4A86-4307-A6E8-808AE58903D9}"/>
              </a:ext>
            </a:extLst>
          </p:cNvPr>
          <p:cNvSpPr>
            <a:spLocks xmlns:a="http://schemas.openxmlformats.org/drawingml/2006/main" noGrp="1"/>
          </p:cNvSpPr>
          <p:nvPr/>
        </p:nvSpPr>
        <p:spPr>
          <a:xfrm xmlns:a="http://schemas.openxmlformats.org/drawingml/2006/main">
            <a:off x="7067550" y="2362200"/>
            <a:ext cx="4476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66F"/>
                </a:solidFill>
                <a:latin typeface="Arial"/>
                <a:ea typeface="Arial"/>
                <a:cs typeface="Arial"/>
              </a:defRPr>
            </a:pPr>
            <a:r>
              <a:rPr sz="1500" b="0">
                <a:solidFill>
                  <a:srgbClr val="52666F"/>
                </a:solidFill>
                <a:latin typeface="Arial"/>
                <a:ea typeface="Arial"/>
                <a:cs typeface="Arial"/>
              </a:rPr>
              <a:t>Show accumulated energy, communication condition and the latest successful reading.</a:t>
            </a:r>
          </a:p>
        </p:txBody>
      </p:sp>
      <p:cxnSp>
        <p:nvCxnSpPr>
          <p:cNvPr id="32" name="cap-rule-1"/>
          <p:cNvCxnSpPr/>
          <p:nvPr/>
        </p:nvCxnSpPr>
        <p:spPr>
          <a:xfrm xmlns:a="http://schemas.openxmlformats.org/drawingml/2006/main">
            <a:off x="6191250" y="3524250"/>
            <a:ext cx="4953000" cy="0"/>
          </a:xfrm>
          <a:prstGeom xmlns:a="http://schemas.openxmlformats.org/drawingml/2006/main" prst="straightConnector1">
            <a:avLst/>
          </a:prstGeom>
          <a:ln xmlns:a="http://schemas.openxmlformats.org/drawingml/2006/main" w="9525">
            <a:solidFill>
              <a:srgbClr val="B7C4CA"/>
            </a:solidFill>
            <a:prstDash val="solid"/>
          </a:ln>
        </p:spPr>
      </p:cxnSp>
      <p:sp>
        <p:nvSpPr>
          <p:cNvPr id="12" name="cap-number-2">
            <a:extLst xmlns:a="http://schemas.openxmlformats.org/drawingml/2006/main">
              <a:ext uri="{FF2B5EF4-FFF2-40B4-BE49-F238E27FC236}">
                <a16:creationId xmlns:a16="http://schemas.microsoft.com/office/drawing/2014/main" id="{9CEFC9EB-BDB8-4BC2-ACD1-1117C16C6D7B}"/>
              </a:ext>
            </a:extLst>
          </p:cNvPr>
          <p:cNvSpPr>
            <a:spLocks xmlns:a="http://schemas.openxmlformats.org/drawingml/2006/main" noGrp="1"/>
          </p:cNvSpPr>
          <p:nvPr/>
        </p:nvSpPr>
        <p:spPr>
          <a:xfrm xmlns:a="http://schemas.openxmlformats.org/drawingml/2006/main">
            <a:off x="533400" y="400050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A8F88"/>
                </a:solidFill>
                <a:latin typeface="Arial"/>
                <a:ea typeface="Arial"/>
                <a:cs typeface="Arial"/>
              </a:defRPr>
            </a:pPr>
            <a:r>
              <a:rPr sz="2850" b="1">
                <a:solidFill>
                  <a:srgbClr val="0A8F88"/>
                </a:solidFill>
                <a:latin typeface="Arial"/>
                <a:ea typeface="Arial"/>
                <a:cs typeface="Arial"/>
              </a:rPr>
              <a:t>03</a:t>
            </a:r>
          </a:p>
        </p:txBody>
      </p:sp>
      <p:sp>
        <p:nvSpPr>
          <p:cNvPr id="13" name="cap-title-2">
            <a:extLst xmlns:a="http://schemas.openxmlformats.org/drawingml/2006/main">
              <a:ext uri="{FF2B5EF4-FFF2-40B4-BE49-F238E27FC236}">
                <a16:creationId xmlns:a16="http://schemas.microsoft.com/office/drawing/2014/main" id="{789653AE-B398-4989-9D30-62113194CCEF}"/>
              </a:ext>
            </a:extLst>
          </p:cNvPr>
          <p:cNvSpPr>
            <a:spLocks xmlns:a="http://schemas.openxmlformats.org/drawingml/2006/main" noGrp="1"/>
          </p:cNvSpPr>
          <p:nvPr/>
        </p:nvSpPr>
        <p:spPr>
          <a:xfrm xmlns:a="http://schemas.openxmlformats.org/drawingml/2006/main">
            <a:off x="1409700" y="401955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242D"/>
                </a:solidFill>
                <a:latin typeface="Arial"/>
                <a:ea typeface="Arial"/>
                <a:cs typeface="Arial"/>
              </a:defRPr>
            </a:pPr>
            <a:r>
              <a:rPr sz="2250" b="1">
                <a:solidFill>
                  <a:srgbClr val="11242D"/>
                </a:solidFill>
                <a:latin typeface="Arial"/>
                <a:ea typeface="Arial"/>
                <a:cs typeface="Arial"/>
              </a:rPr>
              <a:t>Bill</a:t>
            </a:r>
          </a:p>
        </p:txBody>
      </p:sp>
      <p:sp>
        <p:nvSpPr>
          <p:cNvPr id="14" name="cap-body-2">
            <a:extLst xmlns:a="http://schemas.openxmlformats.org/drawingml/2006/main">
              <a:ext uri="{FF2B5EF4-FFF2-40B4-BE49-F238E27FC236}">
                <a16:creationId xmlns:a16="http://schemas.microsoft.com/office/drawing/2014/main" id="{83D3DC34-0F9D-42A3-A96E-771C5C29BF57}"/>
              </a:ext>
            </a:extLst>
          </p:cNvPr>
          <p:cNvSpPr>
            <a:spLocks xmlns:a="http://schemas.openxmlformats.org/drawingml/2006/main" noGrp="1"/>
          </p:cNvSpPr>
          <p:nvPr/>
        </p:nvSpPr>
        <p:spPr>
          <a:xfrm xmlns:a="http://schemas.openxmlformats.org/drawingml/2006/main">
            <a:off x="1409700" y="4552950"/>
            <a:ext cx="4476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66F"/>
                </a:solidFill>
                <a:latin typeface="Arial"/>
                <a:ea typeface="Arial"/>
                <a:cs typeface="Arial"/>
              </a:defRPr>
            </a:pPr>
            <a:r>
              <a:rPr sz="1500" b="0">
                <a:solidFill>
                  <a:srgbClr val="52666F"/>
                </a:solidFill>
                <a:latin typeface="Arial"/>
                <a:ea typeface="Arial"/>
                <a:cs typeface="Arial"/>
              </a:rPr>
              <a:t>Apply the effective tariff for each meter and calculate monthly consumption and charges.</a:t>
            </a:r>
          </a:p>
        </p:txBody>
      </p:sp>
      <p:cxnSp>
        <p:nvCxnSpPr>
          <p:cNvPr id="36" name="cap-rule-2"/>
          <p:cNvCxnSpPr/>
          <p:nvPr/>
        </p:nvCxnSpPr>
        <p:spPr>
          <a:xfrm xmlns:a="http://schemas.openxmlformats.org/drawingml/2006/main">
            <a:off x="533400" y="5715000"/>
            <a:ext cx="4953000" cy="0"/>
          </a:xfrm>
          <a:prstGeom xmlns:a="http://schemas.openxmlformats.org/drawingml/2006/main" prst="straightConnector1">
            <a:avLst/>
          </a:prstGeom>
          <a:ln xmlns:a="http://schemas.openxmlformats.org/drawingml/2006/main" w="9525">
            <a:solidFill>
              <a:srgbClr val="B7C4CA"/>
            </a:solidFill>
            <a:prstDash val="solid"/>
          </a:ln>
        </p:spPr>
      </p:cxnSp>
      <p:sp>
        <p:nvSpPr>
          <p:cNvPr id="16" name="cap-number-3">
            <a:extLst xmlns:a="http://schemas.openxmlformats.org/drawingml/2006/main">
              <a:ext uri="{FF2B5EF4-FFF2-40B4-BE49-F238E27FC236}">
                <a16:creationId xmlns:a16="http://schemas.microsoft.com/office/drawing/2014/main" id="{46562966-538C-4F0A-91AA-2AE9CED39C5D}"/>
              </a:ext>
            </a:extLst>
          </p:cNvPr>
          <p:cNvSpPr>
            <a:spLocks xmlns:a="http://schemas.openxmlformats.org/drawingml/2006/main" noGrp="1"/>
          </p:cNvSpPr>
          <p:nvPr/>
        </p:nvSpPr>
        <p:spPr>
          <a:xfrm xmlns:a="http://schemas.openxmlformats.org/drawingml/2006/main">
            <a:off x="6191250" y="400050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A8F88"/>
                </a:solidFill>
                <a:latin typeface="Arial"/>
                <a:ea typeface="Arial"/>
                <a:cs typeface="Arial"/>
              </a:defRPr>
            </a:pPr>
            <a:r>
              <a:rPr sz="2850" b="1">
                <a:solidFill>
                  <a:srgbClr val="0A8F88"/>
                </a:solidFill>
                <a:latin typeface="Arial"/>
                <a:ea typeface="Arial"/>
                <a:cs typeface="Arial"/>
              </a:rPr>
              <a:t>04</a:t>
            </a:r>
          </a:p>
        </p:txBody>
      </p:sp>
      <p:sp>
        <p:nvSpPr>
          <p:cNvPr id="17" name="cap-title-3">
            <a:extLst xmlns:a="http://schemas.openxmlformats.org/drawingml/2006/main">
              <a:ext uri="{FF2B5EF4-FFF2-40B4-BE49-F238E27FC236}">
                <a16:creationId xmlns:a16="http://schemas.microsoft.com/office/drawing/2014/main" id="{E379540B-1BBE-4823-9C64-CE3373E3567C}"/>
              </a:ext>
            </a:extLst>
          </p:cNvPr>
          <p:cNvSpPr>
            <a:spLocks xmlns:a="http://schemas.openxmlformats.org/drawingml/2006/main" noGrp="1"/>
          </p:cNvSpPr>
          <p:nvPr/>
        </p:nvSpPr>
        <p:spPr>
          <a:xfrm xmlns:a="http://schemas.openxmlformats.org/drawingml/2006/main">
            <a:off x="7067550" y="401955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242D"/>
                </a:solidFill>
                <a:latin typeface="Arial"/>
                <a:ea typeface="Arial"/>
                <a:cs typeface="Arial"/>
              </a:defRPr>
            </a:pPr>
            <a:r>
              <a:rPr sz="2250" b="1">
                <a:solidFill>
                  <a:srgbClr val="11242D"/>
                </a:solidFill>
                <a:latin typeface="Arial"/>
                <a:ea typeface="Arial"/>
                <a:cs typeface="Arial"/>
              </a:rPr>
              <a:t>Collect</a:t>
            </a:r>
          </a:p>
        </p:txBody>
      </p:sp>
      <p:sp>
        <p:nvSpPr>
          <p:cNvPr id="18" name="cap-body-3">
            <a:extLst xmlns:a="http://schemas.openxmlformats.org/drawingml/2006/main">
              <a:ext uri="{FF2B5EF4-FFF2-40B4-BE49-F238E27FC236}">
                <a16:creationId xmlns:a16="http://schemas.microsoft.com/office/drawing/2014/main" id="{62029F70-D951-4CDD-96B7-D45C04B3F83F}"/>
              </a:ext>
            </a:extLst>
          </p:cNvPr>
          <p:cNvSpPr>
            <a:spLocks xmlns:a="http://schemas.openxmlformats.org/drawingml/2006/main" noGrp="1"/>
          </p:cNvSpPr>
          <p:nvPr/>
        </p:nvSpPr>
        <p:spPr>
          <a:xfrm xmlns:a="http://schemas.openxmlformats.org/drawingml/2006/main">
            <a:off x="7067550" y="4552950"/>
            <a:ext cx="4476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66F"/>
                </a:solidFill>
                <a:latin typeface="Arial"/>
                <a:ea typeface="Arial"/>
                <a:cs typeface="Arial"/>
              </a:defRPr>
            </a:pPr>
            <a:r>
              <a:rPr sz="1500" b="0">
                <a:solidFill>
                  <a:srgbClr val="52666F"/>
                </a:solidFill>
                <a:latin typeface="Arial"/>
                <a:ea typeface="Arial"/>
                <a:cs typeface="Arial"/>
              </a:rPr>
              <a:t>Track invoice status, payments, balances and collection rate by currency.</a:t>
            </a:r>
          </a:p>
        </p:txBody>
      </p:sp>
      <p:cxnSp>
        <p:nvCxnSpPr>
          <p:cNvPr id="40" name="cap-rule-3"/>
          <p:cNvCxnSpPr/>
          <p:nvPr/>
        </p:nvCxnSpPr>
        <p:spPr>
          <a:xfrm xmlns:a="http://schemas.openxmlformats.org/drawingml/2006/main">
            <a:off x="6191250" y="5715000"/>
            <a:ext cx="4953000" cy="0"/>
          </a:xfrm>
          <a:prstGeom xmlns:a="http://schemas.openxmlformats.org/drawingml/2006/main" prst="straightConnector1">
            <a:avLst/>
          </a:prstGeom>
          <a:ln xmlns:a="http://schemas.openxmlformats.org/drawingml/2006/main" w="9525">
            <a:solidFill>
              <a:srgbClr val="B7C4CA"/>
            </a:solidFill>
            <a:prstDash val="solid"/>
          </a:ln>
        </p:spPr>
      </p:cxnSp>
      <p:sp>
        <p:nvSpPr>
          <p:cNvPr id="20" name="footer-brand-3">
            <a:extLst xmlns:a="http://schemas.openxmlformats.org/drawingml/2006/main">
              <a:ext uri="{FF2B5EF4-FFF2-40B4-BE49-F238E27FC236}">
                <a16:creationId xmlns:a16="http://schemas.microsoft.com/office/drawing/2014/main" id="{72D61F23-D7E3-46F1-94F2-00765918D4F4}"/>
              </a:ext>
            </a:extLst>
          </p:cNvPr>
          <p:cNvSpPr>
            <a:spLocks xmlns:a="http://schemas.openxmlformats.org/drawingml/2006/main" noGrp="1"/>
          </p:cNvSpPr>
          <p:nvPr/>
        </p:nvSpPr>
        <p:spPr>
          <a:xfrm xmlns:a="http://schemas.openxmlformats.org/drawingml/2006/main">
            <a:off x="533400" y="64389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2666F"/>
                </a:solidFill>
                <a:latin typeface="Arial"/>
                <a:ea typeface="Arial"/>
                <a:cs typeface="Arial"/>
              </a:defRPr>
            </a:pPr>
            <a:r>
              <a:rPr sz="975" b="0">
                <a:solidFill>
                  <a:srgbClr val="52666F"/>
                </a:solidFill>
                <a:latin typeface="Arial"/>
                <a:ea typeface="Arial"/>
                <a:cs typeface="Arial"/>
              </a:rPr>
              <a:t>Watch Every Watt · By MicroBrain</a:t>
            </a:r>
          </a:p>
        </p:txBody>
      </p:sp>
      <p:sp>
        <p:nvSpPr>
          <p:cNvPr id="21" name="footer-number-3">
            <a:extLst xmlns:a="http://schemas.openxmlformats.org/drawingml/2006/main">
              <a:ext uri="{FF2B5EF4-FFF2-40B4-BE49-F238E27FC236}">
                <a16:creationId xmlns:a16="http://schemas.microsoft.com/office/drawing/2014/main" id="{224460B8-E821-42D1-B9E7-476669BF2A42}"/>
              </a:ext>
            </a:extLst>
          </p:cNvPr>
          <p:cNvSpPr>
            <a:spLocks xmlns:a="http://schemas.openxmlformats.org/drawingml/2006/main" noGrp="1"/>
          </p:cNvSpPr>
          <p:nvPr/>
        </p:nvSpPr>
        <p:spPr>
          <a:xfrm xmlns:a="http://schemas.openxmlformats.org/drawingml/2006/main">
            <a:off x="11144250" y="64389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2666F"/>
                </a:solidFill>
                <a:latin typeface="Arial"/>
                <a:ea typeface="Arial"/>
                <a:cs typeface="Arial"/>
              </a:defRPr>
            </a:pPr>
            <a:r>
              <a:rPr sz="975" b="1">
                <a:solidFill>
                  <a:srgbClr val="52666F"/>
                </a:solidFill>
                <a:latin typeface="Arial"/>
                <a:ea typeface="Arial"/>
                <a:cs typeface="Arial"/>
              </a:rPr>
              <a:t>03</a:t>
            </a:r>
          </a:p>
        </p:txBody>
      </p:sp>
    </p:spTree>
    <p:extLst>
      <p:ext uri="{BB962C8B-B14F-4D97-AF65-F5344CB8AC3E}">
        <p14:creationId xmlns:p14="http://schemas.microsoft.com/office/powerpoint/2010/main" val="4104174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kicker-4">
            <a:extLst xmlns:a="http://schemas.openxmlformats.org/drawingml/2006/main">
              <a:ext uri="{FF2B5EF4-FFF2-40B4-BE49-F238E27FC236}">
                <a16:creationId xmlns:a16="http://schemas.microsoft.com/office/drawing/2014/main" id="{64294E93-0EFE-4DAD-A170-FE15E186B226}"/>
              </a:ext>
            </a:extLst>
          </p:cNvPr>
          <p:cNvSpPr>
            <a:spLocks xmlns:a="http://schemas.openxmlformats.org/drawingml/2006/main" noGrp="1"/>
          </p:cNvSpPr>
          <p:nvPr/>
        </p:nvSpPr>
        <p:spPr>
          <a:xfrm xmlns:a="http://schemas.openxmlformats.org/drawingml/2006/main">
            <a:off x="53340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8F88"/>
                </a:solidFill>
                <a:latin typeface="Arial"/>
                <a:ea typeface="Arial"/>
                <a:cs typeface="Arial"/>
              </a:defRPr>
            </a:pPr>
            <a:r>
              <a:rPr sz="1050" b="1">
                <a:solidFill>
                  <a:srgbClr val="0A8F88"/>
                </a:solidFill>
                <a:latin typeface="Arial"/>
                <a:ea typeface="Arial"/>
                <a:cs typeface="Arial"/>
              </a:rPr>
              <a:t>WATCH DOG EM</a:t>
            </a:r>
          </a:p>
        </p:txBody>
      </p:sp>
      <p:sp>
        <p:nvSpPr>
          <p:cNvPr id="2" name="title-4">
            <a:extLst xmlns:a="http://schemas.openxmlformats.org/drawingml/2006/main">
              <a:ext uri="{FF2B5EF4-FFF2-40B4-BE49-F238E27FC236}">
                <a16:creationId xmlns:a16="http://schemas.microsoft.com/office/drawing/2014/main" id="{6A9BB316-03DB-4005-BBA1-2ABBE0B67BBE}"/>
              </a:ext>
            </a:extLst>
          </p:cNvPr>
          <p:cNvSpPr>
            <a:spLocks xmlns:a="http://schemas.openxmlformats.org/drawingml/2006/main" noGrp="1"/>
          </p:cNvSpPr>
          <p:nvPr/>
        </p:nvSpPr>
        <p:spPr>
          <a:xfrm xmlns:a="http://schemas.openxmlformats.org/drawingml/2006/main">
            <a:off x="533400" y="6667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1242D"/>
                </a:solidFill>
                <a:latin typeface="Arial"/>
                <a:ea typeface="Arial"/>
                <a:cs typeface="Arial"/>
              </a:defRPr>
            </a:pPr>
            <a:r>
              <a:rPr sz="3600" b="1">
                <a:solidFill>
                  <a:srgbClr val="11242D"/>
                </a:solidFill>
                <a:latin typeface="Arial"/>
                <a:ea typeface="Arial"/>
                <a:cs typeface="Arial"/>
              </a:rPr>
              <a:t>From controller reading to invoice—automatically</a:t>
            </a:r>
          </a:p>
        </p:txBody>
      </p:sp>
      <p:cxnSp>
        <p:nvCxnSpPr>
          <p:cNvPr id="33" name="header-rule-4"/>
          <p:cNvCxnSpPr/>
          <p:nvPr/>
        </p:nvCxnSpPr>
        <p:spPr>
          <a:xfrm xmlns:a="http://schemas.openxmlformats.org/drawingml/2006/main">
            <a:off x="533400" y="1428750"/>
            <a:ext cx="11125200" cy="0"/>
          </a:xfrm>
          <a:prstGeom xmlns:a="http://schemas.openxmlformats.org/drawingml/2006/main" prst="straightConnector1">
            <a:avLst/>
          </a:prstGeom>
          <a:ln xmlns:a="http://schemas.openxmlformats.org/drawingml/2006/main" w="9525">
            <a:solidFill>
              <a:srgbClr val="B7C4CA"/>
            </a:solidFill>
            <a:prstDash val="solid"/>
          </a:ln>
        </p:spPr>
      </p:cxnSp>
      <p:cxnSp>
        <p:nvCxnSpPr>
          <p:cNvPr id="34" name="flow-link-0"/>
          <p:cNvCxnSpPr/>
          <p:nvPr/>
        </p:nvCxnSpPr>
        <p:spPr>
          <a:xfrm xmlns:a="http://schemas.openxmlformats.org/drawingml/2006/main">
            <a:off x="2152650" y="3381375"/>
            <a:ext cx="819150" cy="0"/>
          </a:xfrm>
          <a:prstGeom xmlns:a="http://schemas.openxmlformats.org/drawingml/2006/main" prst="straightConnector1">
            <a:avLst/>
          </a:prstGeom>
          <a:ln xmlns:a="http://schemas.openxmlformats.org/drawingml/2006/main" w="38100">
            <a:solidFill>
              <a:srgbClr val="0A8F88"/>
            </a:solidFill>
            <a:prstDash val="solid"/>
          </a:ln>
        </p:spPr>
      </p:cxnSp>
      <p:cxnSp>
        <p:nvCxnSpPr>
          <p:cNvPr id="35" name="flow-link-1"/>
          <p:cNvCxnSpPr/>
          <p:nvPr/>
        </p:nvCxnSpPr>
        <p:spPr>
          <a:xfrm xmlns:a="http://schemas.openxmlformats.org/drawingml/2006/main">
            <a:off x="4400550" y="3381375"/>
            <a:ext cx="819150" cy="0"/>
          </a:xfrm>
          <a:prstGeom xmlns:a="http://schemas.openxmlformats.org/drawingml/2006/main" prst="straightConnector1">
            <a:avLst/>
          </a:prstGeom>
          <a:ln xmlns:a="http://schemas.openxmlformats.org/drawingml/2006/main" w="38100">
            <a:solidFill>
              <a:srgbClr val="0A8F88"/>
            </a:solidFill>
            <a:prstDash val="solid"/>
          </a:ln>
        </p:spPr>
      </p:cxnSp>
      <p:cxnSp>
        <p:nvCxnSpPr>
          <p:cNvPr id="36" name="flow-link-2"/>
          <p:cNvCxnSpPr/>
          <p:nvPr/>
        </p:nvCxnSpPr>
        <p:spPr>
          <a:xfrm xmlns:a="http://schemas.openxmlformats.org/drawingml/2006/main">
            <a:off x="6648450" y="3381375"/>
            <a:ext cx="819150" cy="0"/>
          </a:xfrm>
          <a:prstGeom xmlns:a="http://schemas.openxmlformats.org/drawingml/2006/main" prst="straightConnector1">
            <a:avLst/>
          </a:prstGeom>
          <a:ln xmlns:a="http://schemas.openxmlformats.org/drawingml/2006/main" w="38100">
            <a:solidFill>
              <a:srgbClr val="0A8F88"/>
            </a:solidFill>
            <a:prstDash val="solid"/>
          </a:ln>
        </p:spPr>
      </p:cxnSp>
      <p:cxnSp>
        <p:nvCxnSpPr>
          <p:cNvPr id="37" name="flow-link-3"/>
          <p:cNvCxnSpPr/>
          <p:nvPr/>
        </p:nvCxnSpPr>
        <p:spPr>
          <a:xfrm xmlns:a="http://schemas.openxmlformats.org/drawingml/2006/main">
            <a:off x="8896350" y="3381375"/>
            <a:ext cx="819150" cy="0"/>
          </a:xfrm>
          <a:prstGeom xmlns:a="http://schemas.openxmlformats.org/drawingml/2006/main" prst="straightConnector1">
            <a:avLst/>
          </a:prstGeom>
          <a:ln xmlns:a="http://schemas.openxmlformats.org/drawingml/2006/main" w="38100">
            <a:solidFill>
              <a:srgbClr val="0A8F88"/>
            </a:solidFill>
            <a:prstDash val="solid"/>
          </a:ln>
        </p:spPr>
      </p:cxnSp>
      <p:sp>
        <p:nvSpPr>
          <p:cNvPr id="8" name="flow-node-0">
            <a:extLst xmlns:a="http://schemas.openxmlformats.org/drawingml/2006/main">
              <a:ext uri="{FF2B5EF4-FFF2-40B4-BE49-F238E27FC236}">
                <a16:creationId xmlns:a16="http://schemas.microsoft.com/office/drawing/2014/main" id="{16CA4698-1C63-427C-B522-5AFFA6D013C9}"/>
              </a:ext>
            </a:extLst>
          </p:cNvPr>
          <p:cNvSpPr>
            <a:spLocks xmlns:a="http://schemas.openxmlformats.org/drawingml/2006/main" noGrp="1"/>
          </p:cNvSpPr>
          <p:nvPr/>
        </p:nvSpPr>
        <p:spPr>
          <a:xfrm xmlns:a="http://schemas.openxmlformats.org/drawingml/2006/main">
            <a:off x="628650" y="2524125"/>
            <a:ext cx="1809750" cy="1857375"/>
          </a:xfrm>
          <a:prstGeom xmlns:a="http://schemas.openxmlformats.org/drawingml/2006/main" prst="rect">
            <a:avLst/>
          </a:prstGeom>
          <a:solidFill xmlns:a="http://schemas.openxmlformats.org/drawingml/2006/main">
            <a:srgbClr val="EEF3F5"/>
          </a:solidFill>
          <a:ln xmlns:a="http://schemas.openxmlformats.org/drawingml/2006/main" w="9525">
            <a:solidFill>
              <a:srgbClr val="B7C4CA"/>
            </a:solidFill>
            <a:prstDash val="solid"/>
          </a:ln>
        </p:spPr>
      </p:sp>
      <p:sp>
        <p:nvSpPr>
          <p:cNvPr id="9" name="flow-num-0">
            <a:extLst xmlns:a="http://schemas.openxmlformats.org/drawingml/2006/main">
              <a:ext uri="{FF2B5EF4-FFF2-40B4-BE49-F238E27FC236}">
                <a16:creationId xmlns:a16="http://schemas.microsoft.com/office/drawing/2014/main" id="{3E8FBB56-F724-4FFD-9E20-888E891E016E}"/>
              </a:ext>
            </a:extLst>
          </p:cNvPr>
          <p:cNvSpPr>
            <a:spLocks xmlns:a="http://schemas.openxmlformats.org/drawingml/2006/main" noGrp="1"/>
          </p:cNvSpPr>
          <p:nvPr/>
        </p:nvSpPr>
        <p:spPr>
          <a:xfrm xmlns:a="http://schemas.openxmlformats.org/drawingml/2006/main">
            <a:off x="800100" y="26860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A8F88"/>
                </a:solidFill>
                <a:latin typeface="Arial"/>
                <a:ea typeface="Arial"/>
                <a:cs typeface="Arial"/>
              </a:defRPr>
            </a:pPr>
            <a:r>
              <a:rPr sz="1650" b="1">
                <a:solidFill>
                  <a:srgbClr val="0A8F88"/>
                </a:solidFill>
                <a:latin typeface="Arial"/>
                <a:ea typeface="Arial"/>
                <a:cs typeface="Arial"/>
              </a:rPr>
              <a:t>1</a:t>
            </a:r>
          </a:p>
        </p:txBody>
      </p:sp>
      <p:sp>
        <p:nvSpPr>
          <p:cNvPr id="10" name="flow-title-0">
            <a:extLst xmlns:a="http://schemas.openxmlformats.org/drawingml/2006/main">
              <a:ext uri="{FF2B5EF4-FFF2-40B4-BE49-F238E27FC236}">
                <a16:creationId xmlns:a16="http://schemas.microsoft.com/office/drawing/2014/main" id="{030582E3-8733-458D-A3EA-91CC3C7DBDC7}"/>
              </a:ext>
            </a:extLst>
          </p:cNvPr>
          <p:cNvSpPr>
            <a:spLocks xmlns:a="http://schemas.openxmlformats.org/drawingml/2006/main" noGrp="1"/>
          </p:cNvSpPr>
          <p:nvPr/>
        </p:nvSpPr>
        <p:spPr>
          <a:xfrm xmlns:a="http://schemas.openxmlformats.org/drawingml/2006/main">
            <a:off x="800100" y="3105150"/>
            <a:ext cx="1466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242D"/>
                </a:solidFill>
                <a:latin typeface="Arial"/>
                <a:ea typeface="Arial"/>
                <a:cs typeface="Arial"/>
              </a:defRPr>
            </a:pPr>
            <a:r>
              <a:rPr sz="1650" b="1">
                <a:solidFill>
                  <a:srgbClr val="11242D"/>
                </a:solidFill>
                <a:latin typeface="Arial"/>
                <a:ea typeface="Arial"/>
                <a:cs typeface="Arial"/>
              </a:rPr>
              <a:t>Controller</a:t>
            </a:r>
          </a:p>
        </p:txBody>
      </p:sp>
      <p:sp>
        <p:nvSpPr>
          <p:cNvPr id="11" name="flow-body-0">
            <a:extLst xmlns:a="http://schemas.openxmlformats.org/drawingml/2006/main">
              <a:ext uri="{FF2B5EF4-FFF2-40B4-BE49-F238E27FC236}">
                <a16:creationId xmlns:a16="http://schemas.microsoft.com/office/drawing/2014/main" id="{69403065-45A1-49C9-A039-7520E517F6D3}"/>
              </a:ext>
            </a:extLst>
          </p:cNvPr>
          <p:cNvSpPr>
            <a:spLocks xmlns:a="http://schemas.openxmlformats.org/drawingml/2006/main" noGrp="1"/>
          </p:cNvSpPr>
          <p:nvPr/>
        </p:nvSpPr>
        <p:spPr>
          <a:xfrm xmlns:a="http://schemas.openxmlformats.org/drawingml/2006/main">
            <a:off x="800100" y="373380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Reads registers over Windows serial / RS-485.</a:t>
            </a:r>
          </a:p>
        </p:txBody>
      </p:sp>
      <p:sp>
        <p:nvSpPr>
          <p:cNvPr id="12" name="flow-node-1">
            <a:extLst xmlns:a="http://schemas.openxmlformats.org/drawingml/2006/main">
              <a:ext uri="{FF2B5EF4-FFF2-40B4-BE49-F238E27FC236}">
                <a16:creationId xmlns:a16="http://schemas.microsoft.com/office/drawing/2014/main" id="{81CFF373-09DF-4561-AAAB-2AA89B498F12}"/>
              </a:ext>
            </a:extLst>
          </p:cNvPr>
          <p:cNvSpPr>
            <a:spLocks xmlns:a="http://schemas.openxmlformats.org/drawingml/2006/main" noGrp="1"/>
          </p:cNvSpPr>
          <p:nvPr/>
        </p:nvSpPr>
        <p:spPr>
          <a:xfrm xmlns:a="http://schemas.openxmlformats.org/drawingml/2006/main">
            <a:off x="2876550" y="2524125"/>
            <a:ext cx="1809750" cy="1857375"/>
          </a:xfrm>
          <a:prstGeom xmlns:a="http://schemas.openxmlformats.org/drawingml/2006/main" prst="rect">
            <a:avLst/>
          </a:prstGeom>
          <a:solidFill xmlns:a="http://schemas.openxmlformats.org/drawingml/2006/main">
            <a:srgbClr val="EEF3F5"/>
          </a:solidFill>
          <a:ln xmlns:a="http://schemas.openxmlformats.org/drawingml/2006/main" w="9525">
            <a:solidFill>
              <a:srgbClr val="B7C4CA"/>
            </a:solidFill>
            <a:prstDash val="solid"/>
          </a:ln>
        </p:spPr>
      </p:sp>
      <p:sp>
        <p:nvSpPr>
          <p:cNvPr id="13" name="flow-num-1">
            <a:extLst xmlns:a="http://schemas.openxmlformats.org/drawingml/2006/main">
              <a:ext uri="{FF2B5EF4-FFF2-40B4-BE49-F238E27FC236}">
                <a16:creationId xmlns:a16="http://schemas.microsoft.com/office/drawing/2014/main" id="{FFEE1031-4640-4655-A3B5-6CD2B44DDFEB}"/>
              </a:ext>
            </a:extLst>
          </p:cNvPr>
          <p:cNvSpPr>
            <a:spLocks xmlns:a="http://schemas.openxmlformats.org/drawingml/2006/main" noGrp="1"/>
          </p:cNvSpPr>
          <p:nvPr/>
        </p:nvSpPr>
        <p:spPr>
          <a:xfrm xmlns:a="http://schemas.openxmlformats.org/drawingml/2006/main">
            <a:off x="3048000" y="26860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A8F88"/>
                </a:solidFill>
                <a:latin typeface="Arial"/>
                <a:ea typeface="Arial"/>
                <a:cs typeface="Arial"/>
              </a:defRPr>
            </a:pPr>
            <a:r>
              <a:rPr sz="1650" b="1">
                <a:solidFill>
                  <a:srgbClr val="0A8F88"/>
                </a:solidFill>
                <a:latin typeface="Arial"/>
                <a:ea typeface="Arial"/>
                <a:cs typeface="Arial"/>
              </a:rPr>
              <a:t>2</a:t>
            </a:r>
          </a:p>
        </p:txBody>
      </p:sp>
      <p:sp>
        <p:nvSpPr>
          <p:cNvPr id="14" name="flow-title-1">
            <a:extLst xmlns:a="http://schemas.openxmlformats.org/drawingml/2006/main">
              <a:ext uri="{FF2B5EF4-FFF2-40B4-BE49-F238E27FC236}">
                <a16:creationId xmlns:a16="http://schemas.microsoft.com/office/drawing/2014/main" id="{268BF113-5935-4EDA-9319-45769A4FF985}"/>
              </a:ext>
            </a:extLst>
          </p:cNvPr>
          <p:cNvSpPr>
            <a:spLocks xmlns:a="http://schemas.openxmlformats.org/drawingml/2006/main" noGrp="1"/>
          </p:cNvSpPr>
          <p:nvPr/>
        </p:nvSpPr>
        <p:spPr>
          <a:xfrm xmlns:a="http://schemas.openxmlformats.org/drawingml/2006/main">
            <a:off x="3048000" y="3105150"/>
            <a:ext cx="1466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242D"/>
                </a:solidFill>
                <a:latin typeface="Arial"/>
                <a:ea typeface="Arial"/>
                <a:cs typeface="Arial"/>
              </a:defRPr>
            </a:pPr>
            <a:r>
              <a:rPr sz="1650" b="1">
                <a:solidFill>
                  <a:srgbClr val="11242D"/>
                </a:solidFill>
                <a:latin typeface="Arial"/>
                <a:ea typeface="Arial"/>
                <a:cs typeface="Arial"/>
              </a:rPr>
              <a:t>Meter channel</a:t>
            </a:r>
          </a:p>
        </p:txBody>
      </p:sp>
      <p:sp>
        <p:nvSpPr>
          <p:cNvPr id="15" name="flow-body-1">
            <a:extLst xmlns:a="http://schemas.openxmlformats.org/drawingml/2006/main">
              <a:ext uri="{FF2B5EF4-FFF2-40B4-BE49-F238E27FC236}">
                <a16:creationId xmlns:a16="http://schemas.microsoft.com/office/drawing/2014/main" id="{C6BA29B8-C0A4-458B-9FE7-E970DC18CCCA}"/>
              </a:ext>
            </a:extLst>
          </p:cNvPr>
          <p:cNvSpPr>
            <a:spLocks xmlns:a="http://schemas.openxmlformats.org/drawingml/2006/main" noGrp="1"/>
          </p:cNvSpPr>
          <p:nvPr/>
        </p:nvSpPr>
        <p:spPr>
          <a:xfrm xmlns:a="http://schemas.openxmlformats.org/drawingml/2006/main">
            <a:off x="3048000" y="373380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Decodes data type, word order and scale.</a:t>
            </a:r>
          </a:p>
        </p:txBody>
      </p:sp>
      <p:sp>
        <p:nvSpPr>
          <p:cNvPr id="16" name="flow-node-2">
            <a:extLst xmlns:a="http://schemas.openxmlformats.org/drawingml/2006/main">
              <a:ext uri="{FF2B5EF4-FFF2-40B4-BE49-F238E27FC236}">
                <a16:creationId xmlns:a16="http://schemas.microsoft.com/office/drawing/2014/main" id="{C2184B1C-12CF-43F9-AD8F-3830C3031E66}"/>
              </a:ext>
            </a:extLst>
          </p:cNvPr>
          <p:cNvSpPr>
            <a:spLocks xmlns:a="http://schemas.openxmlformats.org/drawingml/2006/main" noGrp="1"/>
          </p:cNvSpPr>
          <p:nvPr/>
        </p:nvSpPr>
        <p:spPr>
          <a:xfrm xmlns:a="http://schemas.openxmlformats.org/drawingml/2006/main">
            <a:off x="5124450" y="2524125"/>
            <a:ext cx="1809750" cy="1857375"/>
          </a:xfrm>
          <a:prstGeom xmlns:a="http://schemas.openxmlformats.org/drawingml/2006/main" prst="rect">
            <a:avLst/>
          </a:prstGeom>
          <a:solidFill xmlns:a="http://schemas.openxmlformats.org/drawingml/2006/main">
            <a:srgbClr val="EEF3F5"/>
          </a:solidFill>
          <a:ln xmlns:a="http://schemas.openxmlformats.org/drawingml/2006/main" w="9525">
            <a:solidFill>
              <a:srgbClr val="B7C4CA"/>
            </a:solidFill>
            <a:prstDash val="solid"/>
          </a:ln>
        </p:spPr>
      </p:sp>
      <p:sp>
        <p:nvSpPr>
          <p:cNvPr id="17" name="flow-num-2">
            <a:extLst xmlns:a="http://schemas.openxmlformats.org/drawingml/2006/main">
              <a:ext uri="{FF2B5EF4-FFF2-40B4-BE49-F238E27FC236}">
                <a16:creationId xmlns:a16="http://schemas.microsoft.com/office/drawing/2014/main" id="{AF9E86D4-02E3-48F8-86AA-12B04D531E7F}"/>
              </a:ext>
            </a:extLst>
          </p:cNvPr>
          <p:cNvSpPr>
            <a:spLocks xmlns:a="http://schemas.openxmlformats.org/drawingml/2006/main" noGrp="1"/>
          </p:cNvSpPr>
          <p:nvPr/>
        </p:nvSpPr>
        <p:spPr>
          <a:xfrm xmlns:a="http://schemas.openxmlformats.org/drawingml/2006/main">
            <a:off x="5295900" y="26860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A8F88"/>
                </a:solidFill>
                <a:latin typeface="Arial"/>
                <a:ea typeface="Arial"/>
                <a:cs typeface="Arial"/>
              </a:defRPr>
            </a:pPr>
            <a:r>
              <a:rPr sz="1650" b="1">
                <a:solidFill>
                  <a:srgbClr val="0A8F88"/>
                </a:solidFill>
                <a:latin typeface="Arial"/>
                <a:ea typeface="Arial"/>
                <a:cs typeface="Arial"/>
              </a:rPr>
              <a:t>3</a:t>
            </a:r>
          </a:p>
        </p:txBody>
      </p:sp>
      <p:sp>
        <p:nvSpPr>
          <p:cNvPr id="18" name="flow-title-2">
            <a:extLst xmlns:a="http://schemas.openxmlformats.org/drawingml/2006/main">
              <a:ext uri="{FF2B5EF4-FFF2-40B4-BE49-F238E27FC236}">
                <a16:creationId xmlns:a16="http://schemas.microsoft.com/office/drawing/2014/main" id="{EA854AD9-E5E6-4460-9B07-0D98B7BC3633}"/>
              </a:ext>
            </a:extLst>
          </p:cNvPr>
          <p:cNvSpPr>
            <a:spLocks xmlns:a="http://schemas.openxmlformats.org/drawingml/2006/main" noGrp="1"/>
          </p:cNvSpPr>
          <p:nvPr/>
        </p:nvSpPr>
        <p:spPr>
          <a:xfrm xmlns:a="http://schemas.openxmlformats.org/drawingml/2006/main">
            <a:off x="5295900" y="3105150"/>
            <a:ext cx="1466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242D"/>
                </a:solidFill>
                <a:latin typeface="Arial"/>
                <a:ea typeface="Arial"/>
                <a:cs typeface="Arial"/>
              </a:defRPr>
            </a:pPr>
            <a:r>
              <a:rPr sz="1650" b="1">
                <a:solidFill>
                  <a:srgbClr val="11242D"/>
                </a:solidFill>
                <a:latin typeface="Arial"/>
                <a:ea typeface="Arial"/>
                <a:cs typeface="Arial"/>
              </a:rPr>
              <a:t>Reading store</a:t>
            </a:r>
          </a:p>
        </p:txBody>
      </p:sp>
      <p:sp>
        <p:nvSpPr>
          <p:cNvPr id="19" name="flow-body-2">
            <a:extLst xmlns:a="http://schemas.openxmlformats.org/drawingml/2006/main">
              <a:ext uri="{FF2B5EF4-FFF2-40B4-BE49-F238E27FC236}">
                <a16:creationId xmlns:a16="http://schemas.microsoft.com/office/drawing/2014/main" id="{D42861E7-22D6-434E-BE41-03216D532866}"/>
              </a:ext>
            </a:extLst>
          </p:cNvPr>
          <p:cNvSpPr>
            <a:spLocks xmlns:a="http://schemas.openxmlformats.org/drawingml/2006/main" noGrp="1"/>
          </p:cNvSpPr>
          <p:nvPr/>
        </p:nvSpPr>
        <p:spPr>
          <a:xfrm xmlns:a="http://schemas.openxmlformats.org/drawingml/2006/main">
            <a:off x="5295900" y="373380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Keeps the value, timestamp and source.</a:t>
            </a:r>
          </a:p>
        </p:txBody>
      </p:sp>
      <p:sp>
        <p:nvSpPr>
          <p:cNvPr id="20" name="flow-node-3">
            <a:extLst xmlns:a="http://schemas.openxmlformats.org/drawingml/2006/main">
              <a:ext uri="{FF2B5EF4-FFF2-40B4-BE49-F238E27FC236}">
                <a16:creationId xmlns:a16="http://schemas.microsoft.com/office/drawing/2014/main" id="{8DC26F41-2F2E-456C-B1AD-735B0F7854A4}"/>
              </a:ext>
            </a:extLst>
          </p:cNvPr>
          <p:cNvSpPr>
            <a:spLocks xmlns:a="http://schemas.openxmlformats.org/drawingml/2006/main" noGrp="1"/>
          </p:cNvSpPr>
          <p:nvPr/>
        </p:nvSpPr>
        <p:spPr>
          <a:xfrm xmlns:a="http://schemas.openxmlformats.org/drawingml/2006/main">
            <a:off x="7372350" y="2524125"/>
            <a:ext cx="1809750" cy="1857375"/>
          </a:xfrm>
          <a:prstGeom xmlns:a="http://schemas.openxmlformats.org/drawingml/2006/main" prst="rect">
            <a:avLst/>
          </a:prstGeom>
          <a:solidFill xmlns:a="http://schemas.openxmlformats.org/drawingml/2006/main">
            <a:srgbClr val="EEF3F5"/>
          </a:solidFill>
          <a:ln xmlns:a="http://schemas.openxmlformats.org/drawingml/2006/main" w="9525">
            <a:solidFill>
              <a:srgbClr val="B7C4CA"/>
            </a:solidFill>
            <a:prstDash val="solid"/>
          </a:ln>
        </p:spPr>
      </p:sp>
      <p:sp>
        <p:nvSpPr>
          <p:cNvPr id="21" name="flow-num-3">
            <a:extLst xmlns:a="http://schemas.openxmlformats.org/drawingml/2006/main">
              <a:ext uri="{FF2B5EF4-FFF2-40B4-BE49-F238E27FC236}">
                <a16:creationId xmlns:a16="http://schemas.microsoft.com/office/drawing/2014/main" id="{D993D303-E258-4B74-8657-5925D9A0A249}"/>
              </a:ext>
            </a:extLst>
          </p:cNvPr>
          <p:cNvSpPr>
            <a:spLocks xmlns:a="http://schemas.openxmlformats.org/drawingml/2006/main" noGrp="1"/>
          </p:cNvSpPr>
          <p:nvPr/>
        </p:nvSpPr>
        <p:spPr>
          <a:xfrm xmlns:a="http://schemas.openxmlformats.org/drawingml/2006/main">
            <a:off x="7543800" y="26860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A8F88"/>
                </a:solidFill>
                <a:latin typeface="Arial"/>
                <a:ea typeface="Arial"/>
                <a:cs typeface="Arial"/>
              </a:defRPr>
            </a:pPr>
            <a:r>
              <a:rPr sz="1650" b="1">
                <a:solidFill>
                  <a:srgbClr val="0A8F88"/>
                </a:solidFill>
                <a:latin typeface="Arial"/>
                <a:ea typeface="Arial"/>
                <a:cs typeface="Arial"/>
              </a:rPr>
              <a:t>4</a:t>
            </a:r>
          </a:p>
        </p:txBody>
      </p:sp>
      <p:sp>
        <p:nvSpPr>
          <p:cNvPr id="22" name="flow-title-3">
            <a:extLst xmlns:a="http://schemas.openxmlformats.org/drawingml/2006/main">
              <a:ext uri="{FF2B5EF4-FFF2-40B4-BE49-F238E27FC236}">
                <a16:creationId xmlns:a16="http://schemas.microsoft.com/office/drawing/2014/main" id="{0D204BDC-5375-4E84-B31C-76ABB48876A9}"/>
              </a:ext>
            </a:extLst>
          </p:cNvPr>
          <p:cNvSpPr>
            <a:spLocks xmlns:a="http://schemas.openxmlformats.org/drawingml/2006/main" noGrp="1"/>
          </p:cNvSpPr>
          <p:nvPr/>
        </p:nvSpPr>
        <p:spPr>
          <a:xfrm xmlns:a="http://schemas.openxmlformats.org/drawingml/2006/main">
            <a:off x="7543800" y="3105150"/>
            <a:ext cx="1466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242D"/>
                </a:solidFill>
                <a:latin typeface="Arial"/>
                <a:ea typeface="Arial"/>
                <a:cs typeface="Arial"/>
              </a:defRPr>
            </a:pPr>
            <a:r>
              <a:rPr sz="1650" b="1">
                <a:solidFill>
                  <a:srgbClr val="11242D"/>
                </a:solidFill>
                <a:latin typeface="Arial"/>
                <a:ea typeface="Arial"/>
                <a:cs typeface="Arial"/>
              </a:rPr>
              <a:t>Billing engine</a:t>
            </a:r>
          </a:p>
        </p:txBody>
      </p:sp>
      <p:sp>
        <p:nvSpPr>
          <p:cNvPr id="23" name="flow-body-3">
            <a:extLst xmlns:a="http://schemas.openxmlformats.org/drawingml/2006/main">
              <a:ext uri="{FF2B5EF4-FFF2-40B4-BE49-F238E27FC236}">
                <a16:creationId xmlns:a16="http://schemas.microsoft.com/office/drawing/2014/main" id="{F977891E-7CC8-4532-A20B-A3B3DFB577B9}"/>
              </a:ext>
            </a:extLst>
          </p:cNvPr>
          <p:cNvSpPr>
            <a:spLocks xmlns:a="http://schemas.openxmlformats.org/drawingml/2006/main" noGrp="1"/>
          </p:cNvSpPr>
          <p:nvPr/>
        </p:nvSpPr>
        <p:spPr>
          <a:xfrm xmlns:a="http://schemas.openxmlformats.org/drawingml/2006/main">
            <a:off x="7543800" y="373380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Calculates consumption × effective tariff.</a:t>
            </a:r>
          </a:p>
        </p:txBody>
      </p:sp>
      <p:sp>
        <p:nvSpPr>
          <p:cNvPr id="24" name="flow-node-4">
            <a:extLst xmlns:a="http://schemas.openxmlformats.org/drawingml/2006/main">
              <a:ext uri="{FF2B5EF4-FFF2-40B4-BE49-F238E27FC236}">
                <a16:creationId xmlns:a16="http://schemas.microsoft.com/office/drawing/2014/main" id="{32B906F8-CEA4-47DA-9741-97FE9EC09F6A}"/>
              </a:ext>
            </a:extLst>
          </p:cNvPr>
          <p:cNvSpPr>
            <a:spLocks xmlns:a="http://schemas.openxmlformats.org/drawingml/2006/main" noGrp="1"/>
          </p:cNvSpPr>
          <p:nvPr/>
        </p:nvSpPr>
        <p:spPr>
          <a:xfrm xmlns:a="http://schemas.openxmlformats.org/drawingml/2006/main">
            <a:off x="9620250" y="2524125"/>
            <a:ext cx="1809750" cy="1857375"/>
          </a:xfrm>
          <a:prstGeom xmlns:a="http://schemas.openxmlformats.org/drawingml/2006/main" prst="rect">
            <a:avLst/>
          </a:prstGeom>
          <a:solidFill xmlns:a="http://schemas.openxmlformats.org/drawingml/2006/main">
            <a:srgbClr val="0B2838"/>
          </a:solidFill>
          <a:ln xmlns:a="http://schemas.openxmlformats.org/drawingml/2006/main" w="9525">
            <a:solidFill>
              <a:srgbClr val="0B2838"/>
            </a:solidFill>
            <a:prstDash val="solid"/>
          </a:ln>
        </p:spPr>
      </p:sp>
      <p:sp>
        <p:nvSpPr>
          <p:cNvPr id="25" name="flow-num-4">
            <a:extLst xmlns:a="http://schemas.openxmlformats.org/drawingml/2006/main">
              <a:ext uri="{FF2B5EF4-FFF2-40B4-BE49-F238E27FC236}">
                <a16:creationId xmlns:a16="http://schemas.microsoft.com/office/drawing/2014/main" id="{22A9F1E5-7A4B-40BF-B732-60B1E34A4E3D}"/>
              </a:ext>
            </a:extLst>
          </p:cNvPr>
          <p:cNvSpPr>
            <a:spLocks xmlns:a="http://schemas.openxmlformats.org/drawingml/2006/main" noGrp="1"/>
          </p:cNvSpPr>
          <p:nvPr/>
        </p:nvSpPr>
        <p:spPr>
          <a:xfrm xmlns:a="http://schemas.openxmlformats.org/drawingml/2006/main">
            <a:off x="9791700" y="26860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5</a:t>
            </a:r>
          </a:p>
        </p:txBody>
      </p:sp>
      <p:sp>
        <p:nvSpPr>
          <p:cNvPr id="26" name="flow-title-4">
            <a:extLst xmlns:a="http://schemas.openxmlformats.org/drawingml/2006/main">
              <a:ext uri="{FF2B5EF4-FFF2-40B4-BE49-F238E27FC236}">
                <a16:creationId xmlns:a16="http://schemas.microsoft.com/office/drawing/2014/main" id="{F37AF3B9-212A-466D-85CE-808B34CC18C1}"/>
              </a:ext>
            </a:extLst>
          </p:cNvPr>
          <p:cNvSpPr>
            <a:spLocks xmlns:a="http://schemas.openxmlformats.org/drawingml/2006/main" noGrp="1"/>
          </p:cNvSpPr>
          <p:nvPr/>
        </p:nvSpPr>
        <p:spPr>
          <a:xfrm xmlns:a="http://schemas.openxmlformats.org/drawingml/2006/main">
            <a:off x="9791700" y="3105150"/>
            <a:ext cx="1466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Invoice &amp; payment</a:t>
            </a:r>
          </a:p>
        </p:txBody>
      </p:sp>
      <p:sp>
        <p:nvSpPr>
          <p:cNvPr id="27" name="flow-body-4">
            <a:extLst xmlns:a="http://schemas.openxmlformats.org/drawingml/2006/main">
              <a:ext uri="{FF2B5EF4-FFF2-40B4-BE49-F238E27FC236}">
                <a16:creationId xmlns:a16="http://schemas.microsoft.com/office/drawing/2014/main" id="{8A56CC44-889F-4809-B40A-C9B1B8EB6738}"/>
              </a:ext>
            </a:extLst>
          </p:cNvPr>
          <p:cNvSpPr>
            <a:spLocks xmlns:a="http://schemas.openxmlformats.org/drawingml/2006/main" noGrp="1"/>
          </p:cNvSpPr>
          <p:nvPr/>
        </p:nvSpPr>
        <p:spPr>
          <a:xfrm xmlns:a="http://schemas.openxmlformats.org/drawingml/2006/main">
            <a:off x="9791700" y="373380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FFFFFF"/>
                </a:solidFill>
                <a:latin typeface="Arial"/>
                <a:ea typeface="Arial"/>
                <a:cs typeface="Arial"/>
              </a:defRPr>
            </a:pPr>
            <a:r>
              <a:rPr sz="1200" b="0">
                <a:solidFill>
                  <a:srgbClr val="FFFFFF"/>
                </a:solidFill>
                <a:latin typeface="Arial"/>
                <a:ea typeface="Arial"/>
                <a:cs typeface="Arial"/>
              </a:rPr>
              <a:t>Produces PDF and tracks balance status.</a:t>
            </a:r>
          </a:p>
        </p:txBody>
      </p:sp>
      <p:sp>
        <p:nvSpPr>
          <p:cNvPr id="28" name="flow-control">
            <a:extLst xmlns:a="http://schemas.openxmlformats.org/drawingml/2006/main">
              <a:ext uri="{FF2B5EF4-FFF2-40B4-BE49-F238E27FC236}">
                <a16:creationId xmlns:a16="http://schemas.microsoft.com/office/drawing/2014/main" id="{A6DEC50C-A0ED-47B4-9717-167028E518FC}"/>
              </a:ext>
            </a:extLst>
          </p:cNvPr>
          <p:cNvSpPr>
            <a:spLocks xmlns:a="http://schemas.openxmlformats.org/drawingml/2006/main" noGrp="1"/>
          </p:cNvSpPr>
          <p:nvPr/>
        </p:nvSpPr>
        <p:spPr>
          <a:xfrm xmlns:a="http://schemas.openxmlformats.org/drawingml/2006/main">
            <a:off x="2952750" y="4953000"/>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08716D"/>
                </a:solidFill>
                <a:latin typeface="Arial"/>
                <a:ea typeface="Arial"/>
                <a:cs typeface="Arial"/>
              </a:defRPr>
            </a:pPr>
            <a:r>
              <a:rPr sz="2100" b="1">
                <a:solidFill>
                  <a:srgbClr val="08716D"/>
                </a:solidFill>
                <a:latin typeface="Arial"/>
                <a:ea typeface="Arial"/>
                <a:cs typeface="Arial"/>
              </a:rPr>
              <a:t>Every stage remains reviewable by an authorized user.</a:t>
            </a:r>
          </a:p>
        </p:txBody>
      </p:sp>
      <p:sp>
        <p:nvSpPr>
          <p:cNvPr id="29" name="footer-brand-4">
            <a:extLst xmlns:a="http://schemas.openxmlformats.org/drawingml/2006/main">
              <a:ext uri="{FF2B5EF4-FFF2-40B4-BE49-F238E27FC236}">
                <a16:creationId xmlns:a16="http://schemas.microsoft.com/office/drawing/2014/main" id="{BA6B92E9-10D3-4515-97C5-161FD00CA2CC}"/>
              </a:ext>
            </a:extLst>
          </p:cNvPr>
          <p:cNvSpPr>
            <a:spLocks xmlns:a="http://schemas.openxmlformats.org/drawingml/2006/main" noGrp="1"/>
          </p:cNvSpPr>
          <p:nvPr/>
        </p:nvSpPr>
        <p:spPr>
          <a:xfrm xmlns:a="http://schemas.openxmlformats.org/drawingml/2006/main">
            <a:off x="533400" y="64389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2666F"/>
                </a:solidFill>
                <a:latin typeface="Arial"/>
                <a:ea typeface="Arial"/>
                <a:cs typeface="Arial"/>
              </a:defRPr>
            </a:pPr>
            <a:r>
              <a:rPr sz="975" b="0">
                <a:solidFill>
                  <a:srgbClr val="52666F"/>
                </a:solidFill>
                <a:latin typeface="Arial"/>
                <a:ea typeface="Arial"/>
                <a:cs typeface="Arial"/>
              </a:rPr>
              <a:t>Watch Every Watt · By MicroBrain</a:t>
            </a:r>
          </a:p>
        </p:txBody>
      </p:sp>
      <p:sp>
        <p:nvSpPr>
          <p:cNvPr id="30" name="footer-number-4">
            <a:extLst xmlns:a="http://schemas.openxmlformats.org/drawingml/2006/main">
              <a:ext uri="{FF2B5EF4-FFF2-40B4-BE49-F238E27FC236}">
                <a16:creationId xmlns:a16="http://schemas.microsoft.com/office/drawing/2014/main" id="{C767F9D3-E734-46B5-BB17-DBEE6946E047}"/>
              </a:ext>
            </a:extLst>
          </p:cNvPr>
          <p:cNvSpPr>
            <a:spLocks xmlns:a="http://schemas.openxmlformats.org/drawingml/2006/main" noGrp="1"/>
          </p:cNvSpPr>
          <p:nvPr/>
        </p:nvSpPr>
        <p:spPr>
          <a:xfrm xmlns:a="http://schemas.openxmlformats.org/drawingml/2006/main">
            <a:off x="11144250" y="64389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2666F"/>
                </a:solidFill>
                <a:latin typeface="Arial"/>
                <a:ea typeface="Arial"/>
                <a:cs typeface="Arial"/>
              </a:defRPr>
            </a:pPr>
            <a:r>
              <a:rPr sz="975" b="1">
                <a:solidFill>
                  <a:srgbClr val="52666F"/>
                </a:solidFill>
                <a:latin typeface="Arial"/>
                <a:ea typeface="Arial"/>
                <a:cs typeface="Arial"/>
              </a:rPr>
              <a:t>04</a:t>
            </a:r>
          </a:p>
        </p:txBody>
      </p:sp>
    </p:spTree>
    <p:extLst>
      <p:ext uri="{BB962C8B-B14F-4D97-AF65-F5344CB8AC3E}">
        <p14:creationId xmlns:p14="http://schemas.microsoft.com/office/powerpoint/2010/main" val="12973346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kicker-5">
            <a:extLst xmlns:a="http://schemas.openxmlformats.org/drawingml/2006/main">
              <a:ext uri="{FF2B5EF4-FFF2-40B4-BE49-F238E27FC236}">
                <a16:creationId xmlns:a16="http://schemas.microsoft.com/office/drawing/2014/main" id="{9850893A-6AEF-4580-BABE-04EDF0D7F4EE}"/>
              </a:ext>
            </a:extLst>
          </p:cNvPr>
          <p:cNvSpPr>
            <a:spLocks xmlns:a="http://schemas.openxmlformats.org/drawingml/2006/main" noGrp="1"/>
          </p:cNvSpPr>
          <p:nvPr/>
        </p:nvSpPr>
        <p:spPr>
          <a:xfrm xmlns:a="http://schemas.openxmlformats.org/drawingml/2006/main">
            <a:off x="53340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8F88"/>
                </a:solidFill>
                <a:latin typeface="Arial"/>
                <a:ea typeface="Arial"/>
                <a:cs typeface="Arial"/>
              </a:defRPr>
            </a:pPr>
            <a:r>
              <a:rPr sz="1050" b="1">
                <a:solidFill>
                  <a:srgbClr val="0A8F88"/>
                </a:solidFill>
                <a:latin typeface="Arial"/>
                <a:ea typeface="Arial"/>
                <a:cs typeface="Arial"/>
              </a:rPr>
              <a:t>WATCH DOG EM</a:t>
            </a:r>
          </a:p>
        </p:txBody>
      </p:sp>
      <p:sp>
        <p:nvSpPr>
          <p:cNvPr id="2" name="title-5">
            <a:extLst xmlns:a="http://schemas.openxmlformats.org/drawingml/2006/main">
              <a:ext uri="{FF2B5EF4-FFF2-40B4-BE49-F238E27FC236}">
                <a16:creationId xmlns:a16="http://schemas.microsoft.com/office/drawing/2014/main" id="{381F6933-FA06-45C6-AF0F-58B81DDA6A4B}"/>
              </a:ext>
            </a:extLst>
          </p:cNvPr>
          <p:cNvSpPr>
            <a:spLocks xmlns:a="http://schemas.openxmlformats.org/drawingml/2006/main" noGrp="1"/>
          </p:cNvSpPr>
          <p:nvPr/>
        </p:nvSpPr>
        <p:spPr>
          <a:xfrm xmlns:a="http://schemas.openxmlformats.org/drawingml/2006/main">
            <a:off x="533400" y="6667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1242D"/>
                </a:solidFill>
                <a:latin typeface="Arial"/>
                <a:ea typeface="Arial"/>
                <a:cs typeface="Arial"/>
              </a:defRPr>
            </a:pPr>
            <a:r>
              <a:rPr sz="3600" b="1">
                <a:solidFill>
                  <a:srgbClr val="11242D"/>
                </a:solidFill>
                <a:latin typeface="Arial"/>
                <a:ea typeface="Arial"/>
                <a:cs typeface="Arial"/>
              </a:rPr>
              <a:t>One controller manages up to 36 meter channels</a:t>
            </a:r>
          </a:p>
        </p:txBody>
      </p:sp>
      <p:cxnSp>
        <p:nvCxnSpPr>
          <p:cNvPr id="25" name="header-rule-5"/>
          <p:cNvCxnSpPr/>
          <p:nvPr/>
        </p:nvCxnSpPr>
        <p:spPr>
          <a:xfrm xmlns:a="http://schemas.openxmlformats.org/drawingml/2006/main">
            <a:off x="533400" y="1428750"/>
            <a:ext cx="11125200" cy="0"/>
          </a:xfrm>
          <a:prstGeom xmlns:a="http://schemas.openxmlformats.org/drawingml/2006/main" prst="straightConnector1">
            <a:avLst/>
          </a:prstGeom>
          <a:ln xmlns:a="http://schemas.openxmlformats.org/drawingml/2006/main" w="9525">
            <a:solidFill>
              <a:srgbClr val="B7C4CA"/>
            </a:solidFill>
            <a:prstDash val="solid"/>
          </a:ln>
        </p:spPr>
      </p:cxnSp>
      <p:sp>
        <p:nvSpPr>
          <p:cNvPr id="4" name="capacity-intro">
            <a:extLst xmlns:a="http://schemas.openxmlformats.org/drawingml/2006/main">
              <a:ext uri="{FF2B5EF4-FFF2-40B4-BE49-F238E27FC236}">
                <a16:creationId xmlns:a16="http://schemas.microsoft.com/office/drawing/2014/main" id="{626604BB-FC56-4A40-848C-8CEB14CDE1AD}"/>
              </a:ext>
            </a:extLst>
          </p:cNvPr>
          <p:cNvSpPr>
            <a:spLocks xmlns:a="http://schemas.openxmlformats.org/drawingml/2006/main" noGrp="1"/>
          </p:cNvSpPr>
          <p:nvPr/>
        </p:nvSpPr>
        <p:spPr>
          <a:xfrm xmlns:a="http://schemas.openxmlformats.org/drawingml/2006/main">
            <a:off x="533400" y="16764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2666F"/>
                </a:solidFill>
                <a:latin typeface="Arial"/>
                <a:ea typeface="Arial"/>
                <a:cs typeface="Arial"/>
              </a:defRPr>
            </a:pPr>
            <a:r>
              <a:rPr sz="1725" b="0">
                <a:solidFill>
                  <a:srgbClr val="52666F"/>
                </a:solidFill>
                <a:latin typeface="Arial"/>
                <a:ea typeface="Arial"/>
                <a:cs typeface="Arial"/>
              </a:rPr>
              <a:t>The system is designed to grow by adding controllers. Each channel has its own register, meter identity, shop assignment and conversion settings.</a:t>
            </a:r>
          </a:p>
        </p:txBody>
      </p:sp>
      <p:cxnSp>
        <p:nvCxnSpPr>
          <p:cNvPr id="27" name="arch-connector-0"/>
          <p:cNvCxnSpPr/>
          <p:nvPr/>
        </p:nvCxnSpPr>
        <p:spPr>
          <a:xfrm xmlns:a="http://schemas.openxmlformats.org/drawingml/2006/main">
            <a:off x="3381375" y="3028950"/>
            <a:ext cx="2000250" cy="0"/>
          </a:xfrm>
          <a:prstGeom xmlns:a="http://schemas.openxmlformats.org/drawingml/2006/main" prst="straightConnector1">
            <a:avLst/>
          </a:prstGeom>
          <a:ln xmlns:a="http://schemas.openxmlformats.org/drawingml/2006/main" w="28575">
            <a:solidFill>
              <a:srgbClr val="0A8F88"/>
            </a:solidFill>
            <a:prstDash val="solid"/>
          </a:ln>
        </p:spPr>
      </p:cxnSp>
      <p:cxnSp>
        <p:nvCxnSpPr>
          <p:cNvPr id="28" name="arch-connector-1"/>
          <p:cNvCxnSpPr/>
          <p:nvPr/>
        </p:nvCxnSpPr>
        <p:spPr>
          <a:xfrm xmlns:a="http://schemas.openxmlformats.org/drawingml/2006/main">
            <a:off x="3381375" y="4000500"/>
            <a:ext cx="2000250" cy="0"/>
          </a:xfrm>
          <a:prstGeom xmlns:a="http://schemas.openxmlformats.org/drawingml/2006/main" prst="straightConnector1">
            <a:avLst/>
          </a:prstGeom>
          <a:ln xmlns:a="http://schemas.openxmlformats.org/drawingml/2006/main" w="28575">
            <a:solidFill>
              <a:srgbClr val="0A8F88"/>
            </a:solidFill>
            <a:prstDash val="solid"/>
          </a:ln>
        </p:spPr>
      </p:cxnSp>
      <p:cxnSp>
        <p:nvCxnSpPr>
          <p:cNvPr id="29" name="arch-connector-2"/>
          <p:cNvCxnSpPr/>
          <p:nvPr/>
        </p:nvCxnSpPr>
        <p:spPr>
          <a:xfrm xmlns:a="http://schemas.openxmlformats.org/drawingml/2006/main">
            <a:off x="3381375" y="4972050"/>
            <a:ext cx="2000250" cy="0"/>
          </a:xfrm>
          <a:prstGeom xmlns:a="http://schemas.openxmlformats.org/drawingml/2006/main" prst="straightConnector1">
            <a:avLst/>
          </a:prstGeom>
          <a:ln xmlns:a="http://schemas.openxmlformats.org/drawingml/2006/main" w="28575">
            <a:solidFill>
              <a:srgbClr val="0A8F88"/>
            </a:solidFill>
            <a:prstDash val="solid"/>
          </a:ln>
        </p:spPr>
      </p:cxnSp>
      <p:cxnSp>
        <p:nvCxnSpPr>
          <p:cNvPr id="30" name="arch-to-shops"/>
          <p:cNvCxnSpPr/>
          <p:nvPr/>
        </p:nvCxnSpPr>
        <p:spPr>
          <a:xfrm xmlns:a="http://schemas.openxmlformats.org/drawingml/2006/main">
            <a:off x="7858125" y="4000500"/>
            <a:ext cx="1428750" cy="0"/>
          </a:xfrm>
          <a:prstGeom xmlns:a="http://schemas.openxmlformats.org/drawingml/2006/main" prst="straightConnector1">
            <a:avLst/>
          </a:prstGeom>
          <a:ln xmlns:a="http://schemas.openxmlformats.org/drawingml/2006/main" w="28575">
            <a:solidFill>
              <a:srgbClr val="0A8F88"/>
            </a:solidFill>
            <a:prstDash val="solid"/>
          </a:ln>
        </p:spPr>
      </p:cxnSp>
      <p:sp>
        <p:nvSpPr>
          <p:cNvPr id="9" name="arch-controller">
            <a:extLst xmlns:a="http://schemas.openxmlformats.org/drawingml/2006/main">
              <a:ext uri="{FF2B5EF4-FFF2-40B4-BE49-F238E27FC236}">
                <a16:creationId xmlns:a16="http://schemas.microsoft.com/office/drawing/2014/main" id="{1818BC89-BB34-4E38-87F0-D22EE1D2ADC0}"/>
              </a:ext>
            </a:extLst>
          </p:cNvPr>
          <p:cNvSpPr>
            <a:spLocks xmlns:a="http://schemas.openxmlformats.org/drawingml/2006/main" noGrp="1"/>
          </p:cNvSpPr>
          <p:nvPr/>
        </p:nvSpPr>
        <p:spPr>
          <a:xfrm xmlns:a="http://schemas.openxmlformats.org/drawingml/2006/main">
            <a:off x="857250" y="2857500"/>
            <a:ext cx="2524125" cy="2428875"/>
          </a:xfrm>
          <a:prstGeom xmlns:a="http://schemas.openxmlformats.org/drawingml/2006/main" prst="rect">
            <a:avLst/>
          </a:prstGeom>
          <a:solidFill xmlns:a="http://schemas.openxmlformats.org/drawingml/2006/main">
            <a:srgbClr val="0B2838"/>
          </a:solidFill>
          <a:ln xmlns:a="http://schemas.openxmlformats.org/drawingml/2006/main" w="9525">
            <a:solidFill>
              <a:srgbClr val="0B2838"/>
            </a:solidFill>
            <a:prstDash val="solid"/>
          </a:ln>
        </p:spPr>
      </p:sp>
      <p:sp>
        <p:nvSpPr>
          <p:cNvPr id="10" name="arch-controller-label">
            <a:extLst xmlns:a="http://schemas.openxmlformats.org/drawingml/2006/main">
              <a:ext uri="{FF2B5EF4-FFF2-40B4-BE49-F238E27FC236}">
                <a16:creationId xmlns:a16="http://schemas.microsoft.com/office/drawing/2014/main" id="{1F055D8B-6955-4DBC-8A80-72A60B81055A}"/>
              </a:ext>
            </a:extLst>
          </p:cNvPr>
          <p:cNvSpPr>
            <a:spLocks xmlns:a="http://schemas.openxmlformats.org/drawingml/2006/main" noGrp="1"/>
          </p:cNvSpPr>
          <p:nvPr/>
        </p:nvSpPr>
        <p:spPr>
          <a:xfrm xmlns:a="http://schemas.openxmlformats.org/drawingml/2006/main">
            <a:off x="1000125" y="3238500"/>
            <a:ext cx="2238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MODBUS RTU</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CONTROLLER</a:t>
            </a:r>
          </a:p>
        </p:txBody>
      </p:sp>
      <p:sp>
        <p:nvSpPr>
          <p:cNvPr id="11" name="arch-controller-detail">
            <a:extLst xmlns:a="http://schemas.openxmlformats.org/drawingml/2006/main">
              <a:ext uri="{FF2B5EF4-FFF2-40B4-BE49-F238E27FC236}">
                <a16:creationId xmlns:a16="http://schemas.microsoft.com/office/drawing/2014/main" id="{33B46C71-310A-4050-B351-57737255ADB7}"/>
              </a:ext>
            </a:extLst>
          </p:cNvPr>
          <p:cNvSpPr>
            <a:spLocks xmlns:a="http://schemas.openxmlformats.org/drawingml/2006/main" noGrp="1"/>
          </p:cNvSpPr>
          <p:nvPr/>
        </p:nvSpPr>
        <p:spPr>
          <a:xfrm xmlns:a="http://schemas.openxmlformats.org/drawingml/2006/main">
            <a:off x="1095375" y="4238625"/>
            <a:ext cx="2047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FFFFFF"/>
                </a:solidFill>
                <a:latin typeface="Arial"/>
                <a:ea typeface="Arial"/>
                <a:cs typeface="Arial"/>
              </a:defRPr>
            </a:pPr>
            <a:r>
              <a:rPr sz="1350" b="0">
                <a:solidFill>
                  <a:srgbClr val="FFFFFF"/>
                </a:solidFill>
                <a:latin typeface="Arial"/>
                <a:ea typeface="Arial"/>
                <a:cs typeface="Arial"/>
              </a:rPr>
              <a:t>COM port · baud · parity</a:t>
            </a:r>
          </a:p>
          <a:p xmlns:a="http://schemas.openxmlformats.org/drawingml/2006/main">
            <a:pPr algn="ctr">
              <a:defRPr sz="1350" b="0">
                <a:solidFill>
                  <a:srgbClr val="FFFFFF"/>
                </a:solidFill>
                <a:latin typeface="Arial"/>
                <a:ea typeface="Arial"/>
                <a:cs typeface="Arial"/>
              </a:defRPr>
            </a:pPr>
            <a:r>
              <a:rPr sz="1350" b="0">
                <a:solidFill>
                  <a:srgbClr val="FFFFFF"/>
                </a:solidFill>
                <a:latin typeface="Arial"/>
                <a:ea typeface="Arial"/>
                <a:cs typeface="Arial"/>
              </a:rPr>
              <a:t>slave · timeout · retries</a:t>
            </a:r>
          </a:p>
        </p:txBody>
      </p:sp>
      <p:sp>
        <p:nvSpPr>
          <p:cNvPr id="12" name="arch-channel-0">
            <a:extLst xmlns:a="http://schemas.openxmlformats.org/drawingml/2006/main">
              <a:ext uri="{FF2B5EF4-FFF2-40B4-BE49-F238E27FC236}">
                <a16:creationId xmlns:a16="http://schemas.microsoft.com/office/drawing/2014/main" id="{FDBA3AB0-7D27-4E59-9972-0C9418093AD4}"/>
              </a:ext>
            </a:extLst>
          </p:cNvPr>
          <p:cNvSpPr>
            <a:spLocks xmlns:a="http://schemas.openxmlformats.org/drawingml/2006/main" noGrp="1"/>
          </p:cNvSpPr>
          <p:nvPr/>
        </p:nvSpPr>
        <p:spPr>
          <a:xfrm xmlns:a="http://schemas.openxmlformats.org/drawingml/2006/main">
            <a:off x="5381625" y="2619375"/>
            <a:ext cx="2476500" cy="714375"/>
          </a:xfrm>
          <a:prstGeom xmlns:a="http://schemas.openxmlformats.org/drawingml/2006/main" prst="rect">
            <a:avLst/>
          </a:prstGeom>
          <a:solidFill xmlns:a="http://schemas.openxmlformats.org/drawingml/2006/main">
            <a:srgbClr val="EEF3F5"/>
          </a:solidFill>
          <a:ln xmlns:a="http://schemas.openxmlformats.org/drawingml/2006/main" w="9525">
            <a:solidFill>
              <a:srgbClr val="B7C4CA"/>
            </a:solidFill>
            <a:prstDash val="solid"/>
          </a:ln>
        </p:spPr>
      </p:sp>
      <p:sp>
        <p:nvSpPr>
          <p:cNvPr id="13" name="arch-channel-label-0">
            <a:extLst xmlns:a="http://schemas.openxmlformats.org/drawingml/2006/main">
              <a:ext uri="{FF2B5EF4-FFF2-40B4-BE49-F238E27FC236}">
                <a16:creationId xmlns:a16="http://schemas.microsoft.com/office/drawing/2014/main" id="{24AB1E86-1838-468D-B431-7EB2FE73B59D}"/>
              </a:ext>
            </a:extLst>
          </p:cNvPr>
          <p:cNvSpPr>
            <a:spLocks xmlns:a="http://schemas.openxmlformats.org/drawingml/2006/main" noGrp="1"/>
          </p:cNvSpPr>
          <p:nvPr/>
        </p:nvSpPr>
        <p:spPr>
          <a:xfrm xmlns:a="http://schemas.openxmlformats.org/drawingml/2006/main">
            <a:off x="5619750" y="280987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1242D"/>
                </a:solidFill>
                <a:latin typeface="Arial"/>
                <a:ea typeface="Arial"/>
                <a:cs typeface="Arial"/>
              </a:defRPr>
            </a:pPr>
            <a:r>
              <a:rPr sz="1800" b="1">
                <a:solidFill>
                  <a:srgbClr val="11242D"/>
                </a:solidFill>
                <a:latin typeface="Arial"/>
                <a:ea typeface="Arial"/>
                <a:cs typeface="Arial"/>
              </a:rPr>
              <a:t>Channels 1–12</a:t>
            </a:r>
          </a:p>
        </p:txBody>
      </p:sp>
      <p:sp>
        <p:nvSpPr>
          <p:cNvPr id="14" name="arch-channel-1">
            <a:extLst xmlns:a="http://schemas.openxmlformats.org/drawingml/2006/main">
              <a:ext uri="{FF2B5EF4-FFF2-40B4-BE49-F238E27FC236}">
                <a16:creationId xmlns:a16="http://schemas.microsoft.com/office/drawing/2014/main" id="{C60323A1-B739-46A5-BDBB-E560E7C1115D}"/>
              </a:ext>
            </a:extLst>
          </p:cNvPr>
          <p:cNvSpPr>
            <a:spLocks xmlns:a="http://schemas.openxmlformats.org/drawingml/2006/main" noGrp="1"/>
          </p:cNvSpPr>
          <p:nvPr/>
        </p:nvSpPr>
        <p:spPr>
          <a:xfrm xmlns:a="http://schemas.openxmlformats.org/drawingml/2006/main">
            <a:off x="5381625" y="3590925"/>
            <a:ext cx="2476500" cy="714375"/>
          </a:xfrm>
          <a:prstGeom xmlns:a="http://schemas.openxmlformats.org/drawingml/2006/main" prst="rect">
            <a:avLst/>
          </a:prstGeom>
          <a:solidFill xmlns:a="http://schemas.openxmlformats.org/drawingml/2006/main">
            <a:srgbClr val="EEF3F5"/>
          </a:solidFill>
          <a:ln xmlns:a="http://schemas.openxmlformats.org/drawingml/2006/main" w="9525">
            <a:solidFill>
              <a:srgbClr val="B7C4CA"/>
            </a:solidFill>
            <a:prstDash val="solid"/>
          </a:ln>
        </p:spPr>
      </p:sp>
      <p:sp>
        <p:nvSpPr>
          <p:cNvPr id="15" name="arch-channel-label-1">
            <a:extLst xmlns:a="http://schemas.openxmlformats.org/drawingml/2006/main">
              <a:ext uri="{FF2B5EF4-FFF2-40B4-BE49-F238E27FC236}">
                <a16:creationId xmlns:a16="http://schemas.microsoft.com/office/drawing/2014/main" id="{1FBC8051-A907-4B07-9AD4-0845F061C804}"/>
              </a:ext>
            </a:extLst>
          </p:cNvPr>
          <p:cNvSpPr>
            <a:spLocks xmlns:a="http://schemas.openxmlformats.org/drawingml/2006/main" noGrp="1"/>
          </p:cNvSpPr>
          <p:nvPr/>
        </p:nvSpPr>
        <p:spPr>
          <a:xfrm xmlns:a="http://schemas.openxmlformats.org/drawingml/2006/main">
            <a:off x="5619750" y="37814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1242D"/>
                </a:solidFill>
                <a:latin typeface="Arial"/>
                <a:ea typeface="Arial"/>
                <a:cs typeface="Arial"/>
              </a:defRPr>
            </a:pPr>
            <a:r>
              <a:rPr sz="1800" b="1">
                <a:solidFill>
                  <a:srgbClr val="11242D"/>
                </a:solidFill>
                <a:latin typeface="Arial"/>
                <a:ea typeface="Arial"/>
                <a:cs typeface="Arial"/>
              </a:rPr>
              <a:t>Channels 13–24</a:t>
            </a:r>
          </a:p>
        </p:txBody>
      </p:sp>
      <p:sp>
        <p:nvSpPr>
          <p:cNvPr id="16" name="arch-channel-2">
            <a:extLst xmlns:a="http://schemas.openxmlformats.org/drawingml/2006/main">
              <a:ext uri="{FF2B5EF4-FFF2-40B4-BE49-F238E27FC236}">
                <a16:creationId xmlns:a16="http://schemas.microsoft.com/office/drawing/2014/main" id="{91F293A7-FB1E-47C4-9EE7-2DAC5EFA86F0}"/>
              </a:ext>
            </a:extLst>
          </p:cNvPr>
          <p:cNvSpPr>
            <a:spLocks xmlns:a="http://schemas.openxmlformats.org/drawingml/2006/main" noGrp="1"/>
          </p:cNvSpPr>
          <p:nvPr/>
        </p:nvSpPr>
        <p:spPr>
          <a:xfrm xmlns:a="http://schemas.openxmlformats.org/drawingml/2006/main">
            <a:off x="5381625" y="4562475"/>
            <a:ext cx="2476500" cy="714375"/>
          </a:xfrm>
          <a:prstGeom xmlns:a="http://schemas.openxmlformats.org/drawingml/2006/main" prst="rect">
            <a:avLst/>
          </a:prstGeom>
          <a:solidFill xmlns:a="http://schemas.openxmlformats.org/drawingml/2006/main">
            <a:srgbClr val="DDF2EE"/>
          </a:solidFill>
          <a:ln xmlns:a="http://schemas.openxmlformats.org/drawingml/2006/main" w="9525">
            <a:solidFill>
              <a:srgbClr val="B7C4CA"/>
            </a:solidFill>
            <a:prstDash val="solid"/>
          </a:ln>
        </p:spPr>
      </p:sp>
      <p:sp>
        <p:nvSpPr>
          <p:cNvPr id="17" name="arch-channel-label-2">
            <a:extLst xmlns:a="http://schemas.openxmlformats.org/drawingml/2006/main">
              <a:ext uri="{FF2B5EF4-FFF2-40B4-BE49-F238E27FC236}">
                <a16:creationId xmlns:a16="http://schemas.microsoft.com/office/drawing/2014/main" id="{BC0ED023-FAA1-4AEB-AEAA-FEFD49D2F819}"/>
              </a:ext>
            </a:extLst>
          </p:cNvPr>
          <p:cNvSpPr>
            <a:spLocks xmlns:a="http://schemas.openxmlformats.org/drawingml/2006/main" noGrp="1"/>
          </p:cNvSpPr>
          <p:nvPr/>
        </p:nvSpPr>
        <p:spPr>
          <a:xfrm xmlns:a="http://schemas.openxmlformats.org/drawingml/2006/main">
            <a:off x="5619750" y="475297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1242D"/>
                </a:solidFill>
                <a:latin typeface="Arial"/>
                <a:ea typeface="Arial"/>
                <a:cs typeface="Arial"/>
              </a:defRPr>
            </a:pPr>
            <a:r>
              <a:rPr sz="1800" b="1">
                <a:solidFill>
                  <a:srgbClr val="11242D"/>
                </a:solidFill>
                <a:latin typeface="Arial"/>
                <a:ea typeface="Arial"/>
                <a:cs typeface="Arial"/>
              </a:rPr>
              <a:t>Channels 25–36</a:t>
            </a:r>
          </a:p>
        </p:txBody>
      </p:sp>
      <p:sp>
        <p:nvSpPr>
          <p:cNvPr id="18" name="arch-shops">
            <a:extLst xmlns:a="http://schemas.openxmlformats.org/drawingml/2006/main">
              <a:ext uri="{FF2B5EF4-FFF2-40B4-BE49-F238E27FC236}">
                <a16:creationId xmlns:a16="http://schemas.microsoft.com/office/drawing/2014/main" id="{45572279-7F53-48DB-9CD7-C7DE893700B0}"/>
              </a:ext>
            </a:extLst>
          </p:cNvPr>
          <p:cNvSpPr>
            <a:spLocks xmlns:a="http://schemas.openxmlformats.org/drawingml/2006/main" noGrp="1"/>
          </p:cNvSpPr>
          <p:nvPr/>
        </p:nvSpPr>
        <p:spPr>
          <a:xfrm xmlns:a="http://schemas.openxmlformats.org/drawingml/2006/main">
            <a:off x="9286875" y="3095625"/>
            <a:ext cx="2190750" cy="1809750"/>
          </a:xfrm>
          <a:prstGeom xmlns:a="http://schemas.openxmlformats.org/drawingml/2006/main" prst="rect">
            <a:avLst/>
          </a:prstGeom>
          <a:solidFill xmlns:a="http://schemas.openxmlformats.org/drawingml/2006/main">
            <a:srgbClr val="DDF2EE"/>
          </a:solidFill>
          <a:ln xmlns:a="http://schemas.openxmlformats.org/drawingml/2006/main" w="9525">
            <a:solidFill>
              <a:srgbClr val="0A8F88"/>
            </a:solidFill>
            <a:prstDash val="solid"/>
          </a:ln>
        </p:spPr>
      </p:sp>
      <p:sp>
        <p:nvSpPr>
          <p:cNvPr id="19" name="arch-shops-title">
            <a:extLst xmlns:a="http://schemas.openxmlformats.org/drawingml/2006/main">
              <a:ext uri="{FF2B5EF4-FFF2-40B4-BE49-F238E27FC236}">
                <a16:creationId xmlns:a16="http://schemas.microsoft.com/office/drawing/2014/main" id="{4A717274-C14A-499D-A037-BBB0C66E6C3E}"/>
              </a:ext>
            </a:extLst>
          </p:cNvPr>
          <p:cNvSpPr>
            <a:spLocks xmlns:a="http://schemas.openxmlformats.org/drawingml/2006/main" noGrp="1"/>
          </p:cNvSpPr>
          <p:nvPr/>
        </p:nvSpPr>
        <p:spPr>
          <a:xfrm xmlns:a="http://schemas.openxmlformats.org/drawingml/2006/main">
            <a:off x="9572625" y="3333750"/>
            <a:ext cx="161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B2838"/>
                </a:solidFill>
                <a:latin typeface="Arial"/>
                <a:ea typeface="Arial"/>
                <a:cs typeface="Arial"/>
              </a:defRPr>
            </a:pPr>
            <a:r>
              <a:rPr sz="1800" b="1">
                <a:solidFill>
                  <a:srgbClr val="0B2838"/>
                </a:solidFill>
                <a:latin typeface="Arial"/>
                <a:ea typeface="Arial"/>
                <a:cs typeface="Arial"/>
              </a:rPr>
              <a:t>SHOPS /</a:t>
            </a:r>
          </a:p>
          <a:p xmlns:a="http://schemas.openxmlformats.org/drawingml/2006/main">
            <a:pPr algn="ctr">
              <a:defRPr sz="1800" b="1">
                <a:solidFill>
                  <a:srgbClr val="0B2838"/>
                </a:solidFill>
                <a:latin typeface="Arial"/>
                <a:ea typeface="Arial"/>
                <a:cs typeface="Arial"/>
              </a:defRPr>
            </a:pPr>
            <a:r>
              <a:rPr sz="1800" b="1">
                <a:solidFill>
                  <a:srgbClr val="0B2838"/>
                </a:solidFill>
                <a:latin typeface="Arial"/>
                <a:ea typeface="Arial"/>
                <a:cs typeface="Arial"/>
              </a:rPr>
              <a:t>TENANTS</a:t>
            </a:r>
          </a:p>
        </p:txBody>
      </p:sp>
      <p:sp>
        <p:nvSpPr>
          <p:cNvPr id="20" name="arch-shops-body">
            <a:extLst xmlns:a="http://schemas.openxmlformats.org/drawingml/2006/main">
              <a:ext uri="{FF2B5EF4-FFF2-40B4-BE49-F238E27FC236}">
                <a16:creationId xmlns:a16="http://schemas.microsoft.com/office/drawing/2014/main" id="{45E4C5F1-5FC4-4214-8958-2828FC72066C}"/>
              </a:ext>
            </a:extLst>
          </p:cNvPr>
          <p:cNvSpPr>
            <a:spLocks xmlns:a="http://schemas.openxmlformats.org/drawingml/2006/main" noGrp="1"/>
          </p:cNvSpPr>
          <p:nvPr/>
        </p:nvSpPr>
        <p:spPr>
          <a:xfrm xmlns:a="http://schemas.openxmlformats.org/drawingml/2006/main">
            <a:off x="9572625" y="4000500"/>
            <a:ext cx="1619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66F"/>
                </a:solidFill>
                <a:latin typeface="Arial"/>
                <a:ea typeface="Arial"/>
                <a:cs typeface="Arial"/>
              </a:defRPr>
            </a:pPr>
            <a:r>
              <a:rPr sz="1275" b="0">
                <a:solidFill>
                  <a:srgbClr val="52666F"/>
                </a:solidFill>
                <a:latin typeface="Arial"/>
                <a:ea typeface="Arial"/>
                <a:cs typeface="Arial"/>
              </a:rPr>
              <a:t>One meter assignment</a:t>
            </a:r>
          </a:p>
          <a:p xmlns:a="http://schemas.openxmlformats.org/drawingml/2006/main">
            <a:pPr algn="ctr">
              <a:defRPr sz="1275" b="0">
                <a:solidFill>
                  <a:srgbClr val="52666F"/>
                </a:solidFill>
                <a:latin typeface="Arial"/>
                <a:ea typeface="Arial"/>
                <a:cs typeface="Arial"/>
              </a:defRPr>
            </a:pPr>
            <a:r>
              <a:rPr sz="1275" b="0">
                <a:solidFill>
                  <a:srgbClr val="52666F"/>
                </a:solidFill>
                <a:latin typeface="Arial"/>
                <a:ea typeface="Arial"/>
                <a:cs typeface="Arial"/>
              </a:rPr>
              <a:t>One tariff history</a:t>
            </a:r>
          </a:p>
          <a:p xmlns:a="http://schemas.openxmlformats.org/drawingml/2006/main">
            <a:pPr algn="ctr">
              <a:defRPr sz="1275" b="0">
                <a:solidFill>
                  <a:srgbClr val="52666F"/>
                </a:solidFill>
                <a:latin typeface="Arial"/>
                <a:ea typeface="Arial"/>
                <a:cs typeface="Arial"/>
              </a:defRPr>
            </a:pPr>
            <a:r>
              <a:rPr sz="1275" b="0">
                <a:solidFill>
                  <a:srgbClr val="52666F"/>
                </a:solidFill>
                <a:latin typeface="Arial"/>
                <a:ea typeface="Arial"/>
                <a:cs typeface="Arial"/>
              </a:rPr>
              <a:t>One billing record</a:t>
            </a:r>
          </a:p>
        </p:txBody>
      </p:sp>
      <p:sp>
        <p:nvSpPr>
          <p:cNvPr id="21" name="footer-brand-5">
            <a:extLst xmlns:a="http://schemas.openxmlformats.org/drawingml/2006/main">
              <a:ext uri="{FF2B5EF4-FFF2-40B4-BE49-F238E27FC236}">
                <a16:creationId xmlns:a16="http://schemas.microsoft.com/office/drawing/2014/main" id="{3718F8C7-3A54-4D40-B805-DA839C726C95}"/>
              </a:ext>
            </a:extLst>
          </p:cNvPr>
          <p:cNvSpPr>
            <a:spLocks xmlns:a="http://schemas.openxmlformats.org/drawingml/2006/main" noGrp="1"/>
          </p:cNvSpPr>
          <p:nvPr/>
        </p:nvSpPr>
        <p:spPr>
          <a:xfrm xmlns:a="http://schemas.openxmlformats.org/drawingml/2006/main">
            <a:off x="533400" y="64389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2666F"/>
                </a:solidFill>
                <a:latin typeface="Arial"/>
                <a:ea typeface="Arial"/>
                <a:cs typeface="Arial"/>
              </a:defRPr>
            </a:pPr>
            <a:r>
              <a:rPr sz="975" b="0">
                <a:solidFill>
                  <a:srgbClr val="52666F"/>
                </a:solidFill>
                <a:latin typeface="Arial"/>
                <a:ea typeface="Arial"/>
                <a:cs typeface="Arial"/>
              </a:rPr>
              <a:t>Watch Every Watt · By MicroBrain</a:t>
            </a:r>
          </a:p>
        </p:txBody>
      </p:sp>
      <p:sp>
        <p:nvSpPr>
          <p:cNvPr id="22" name="footer-number-5">
            <a:extLst xmlns:a="http://schemas.openxmlformats.org/drawingml/2006/main">
              <a:ext uri="{FF2B5EF4-FFF2-40B4-BE49-F238E27FC236}">
                <a16:creationId xmlns:a16="http://schemas.microsoft.com/office/drawing/2014/main" id="{C265D66E-5236-4C62-A15B-8F900D8F1FA9}"/>
              </a:ext>
            </a:extLst>
          </p:cNvPr>
          <p:cNvSpPr>
            <a:spLocks xmlns:a="http://schemas.openxmlformats.org/drawingml/2006/main" noGrp="1"/>
          </p:cNvSpPr>
          <p:nvPr/>
        </p:nvSpPr>
        <p:spPr>
          <a:xfrm xmlns:a="http://schemas.openxmlformats.org/drawingml/2006/main">
            <a:off x="11144250" y="64389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2666F"/>
                </a:solidFill>
                <a:latin typeface="Arial"/>
                <a:ea typeface="Arial"/>
                <a:cs typeface="Arial"/>
              </a:defRPr>
            </a:pPr>
            <a:r>
              <a:rPr sz="975" b="1">
                <a:solidFill>
                  <a:srgbClr val="52666F"/>
                </a:solidFill>
                <a:latin typeface="Arial"/>
                <a:ea typeface="Arial"/>
                <a:cs typeface="Arial"/>
              </a:rPr>
              <a:t>05</a:t>
            </a:r>
          </a:p>
        </p:txBody>
      </p:sp>
    </p:spTree>
    <p:extLst>
      <p:ext uri="{BB962C8B-B14F-4D97-AF65-F5344CB8AC3E}">
        <p14:creationId xmlns:p14="http://schemas.microsoft.com/office/powerpoint/2010/main" val="15160420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6">
            <a:extLst xmlns:a="http://schemas.openxmlformats.org/drawingml/2006/main">
              <a:ext uri="{FF2B5EF4-FFF2-40B4-BE49-F238E27FC236}">
                <a16:creationId xmlns:a16="http://schemas.microsoft.com/office/drawing/2014/main" id="{B09BEFD0-B5E4-4FE7-9040-867BEF0233EF}"/>
              </a:ext>
            </a:extLst>
          </p:cNvPr>
          <p:cNvSpPr>
            <a:spLocks xmlns:a="http://schemas.openxmlformats.org/drawingml/2006/main" noGrp="1"/>
          </p:cNvSpPr>
          <p:nvPr/>
        </p:nvSpPr>
        <p:spPr>
          <a:xfrm xmlns:a="http://schemas.openxmlformats.org/drawingml/2006/main">
            <a:off x="53340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8F88"/>
                </a:solidFill>
                <a:latin typeface="Arial"/>
                <a:ea typeface="Arial"/>
                <a:cs typeface="Arial"/>
              </a:defRPr>
            </a:pPr>
            <a:r>
              <a:rPr sz="1050" b="1">
                <a:solidFill>
                  <a:srgbClr val="0A8F88"/>
                </a:solidFill>
                <a:latin typeface="Arial"/>
                <a:ea typeface="Arial"/>
                <a:cs typeface="Arial"/>
              </a:rPr>
              <a:t>WATCH DOG EM</a:t>
            </a:r>
          </a:p>
        </p:txBody>
      </p:sp>
      <p:sp>
        <p:nvSpPr>
          <p:cNvPr id="2" name="title-6">
            <a:extLst xmlns:a="http://schemas.openxmlformats.org/drawingml/2006/main">
              <a:ext uri="{FF2B5EF4-FFF2-40B4-BE49-F238E27FC236}">
                <a16:creationId xmlns:a16="http://schemas.microsoft.com/office/drawing/2014/main" id="{2F17A8C3-85CA-4BB7-8B9D-79DC7B38D045}"/>
              </a:ext>
            </a:extLst>
          </p:cNvPr>
          <p:cNvSpPr>
            <a:spLocks xmlns:a="http://schemas.openxmlformats.org/drawingml/2006/main" noGrp="1"/>
          </p:cNvSpPr>
          <p:nvPr/>
        </p:nvSpPr>
        <p:spPr>
          <a:xfrm xmlns:a="http://schemas.openxmlformats.org/drawingml/2006/main">
            <a:off x="533400" y="6667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1242D"/>
                </a:solidFill>
                <a:latin typeface="Arial"/>
                <a:ea typeface="Arial"/>
                <a:cs typeface="Arial"/>
              </a:defRPr>
            </a:pPr>
            <a:r>
              <a:rPr sz="3600" b="1">
                <a:solidFill>
                  <a:srgbClr val="11242D"/>
                </a:solidFill>
                <a:latin typeface="Arial"/>
                <a:ea typeface="Arial"/>
                <a:cs typeface="Arial"/>
              </a:rPr>
              <a:t>The dashboard highlights exceptions immediately</a:t>
            </a:r>
          </a:p>
        </p:txBody>
      </p:sp>
      <p:cxnSp>
        <p:nvCxnSpPr>
          <p:cNvPr id="12" name="header-rule-6"/>
          <p:cNvCxnSpPr/>
          <p:nvPr/>
        </p:nvCxnSpPr>
        <p:spPr>
          <a:xfrm xmlns:a="http://schemas.openxmlformats.org/drawingml/2006/main">
            <a:off x="533400" y="1428750"/>
            <a:ext cx="11125200" cy="0"/>
          </a:xfrm>
          <a:prstGeom xmlns:a="http://schemas.openxmlformats.org/drawingml/2006/main" prst="straightConnector1">
            <a:avLst/>
          </a:prstGeom>
          <a:ln xmlns:a="http://schemas.openxmlformats.org/drawingml/2006/main" w="9525">
            <a:solidFill>
              <a:srgbClr val="B7C4CA"/>
            </a:solidFill>
            <a:prstDash val="solid"/>
          </a:ln>
        </p:spPr>
      </p:cxnSp>
      <p:sp>
        <p:nvSpPr>
          <p:cNvPr id="4" name="dashboard-frame">
            <a:extLst xmlns:a="http://schemas.openxmlformats.org/drawingml/2006/main">
              <a:ext uri="{FF2B5EF4-FFF2-40B4-BE49-F238E27FC236}">
                <a16:creationId xmlns:a16="http://schemas.microsoft.com/office/drawing/2014/main" id="{98606AB6-9E1A-42EF-8024-B7B554262284}"/>
              </a:ext>
            </a:extLst>
          </p:cNvPr>
          <p:cNvSpPr>
            <a:spLocks xmlns:a="http://schemas.openxmlformats.org/drawingml/2006/main" noGrp="1"/>
          </p:cNvSpPr>
          <p:nvPr/>
        </p:nvSpPr>
        <p:spPr>
          <a:xfrm xmlns:a="http://schemas.openxmlformats.org/drawingml/2006/main">
            <a:off x="533400" y="1714500"/>
            <a:ext cx="11125200" cy="4095750"/>
          </a:xfrm>
          <a:prstGeom xmlns:a="http://schemas.openxmlformats.org/drawingml/2006/main" prst="roundRect">
            <a:avLst>
              <a:gd name="adj" fmla="val 2791"/>
            </a:avLst>
          </a:prstGeom>
          <a:solidFill xmlns:a="http://schemas.openxmlformats.org/drawingml/2006/main">
            <a:srgbClr val="FFFFFF"/>
          </a:solidFill>
          <a:ln xmlns:a="http://schemas.openxmlformats.org/drawingml/2006/main" w="9525">
            <a:solidFill>
              <a:srgbClr val="B7C4CA"/>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3af166b7e91498c"/>
          <a:srcRect xmlns:a="http://schemas.openxmlformats.org/drawingml/2006/main" l="0" t="18273" r="0" b="18273"/>
          <a:stretch xmlns:a="http://schemas.openxmlformats.org/drawingml/2006/main">
            <a:fillRect l="0" t="0" r="0" b="0"/>
          </a:stretch>
        </p:blipFill>
        <p:spPr>
          <a:xfrm xmlns:a="http://schemas.openxmlformats.org/drawingml/2006/main">
            <a:off x="628650" y="1809750"/>
            <a:ext cx="10934700" cy="3905250"/>
          </a:xfrm>
          <a:prstGeom xmlns:a="http://schemas.openxmlformats.org/drawingml/2006/main" prst="roundRect">
            <a:avLst>
              <a:gd name="adj" fmla="val 2927"/>
            </a:avLst>
          </a:prstGeom>
        </p:spPr>
      </p:pic>
      <p:sp>
        <p:nvSpPr>
          <p:cNvPr id="6" name="dashboard-caption-bg">
            <a:extLst xmlns:a="http://schemas.openxmlformats.org/drawingml/2006/main">
              <a:ext uri="{FF2B5EF4-FFF2-40B4-BE49-F238E27FC236}">
                <a16:creationId xmlns:a16="http://schemas.microsoft.com/office/drawing/2014/main" id="{A14BA61E-8A7F-4243-9FDE-A71ACE64D603}"/>
              </a:ext>
            </a:extLst>
          </p:cNvPr>
          <p:cNvSpPr>
            <a:spLocks xmlns:a="http://schemas.openxmlformats.org/drawingml/2006/main" noGrp="1"/>
          </p:cNvSpPr>
          <p:nvPr/>
        </p:nvSpPr>
        <p:spPr>
          <a:xfrm xmlns:a="http://schemas.openxmlformats.org/drawingml/2006/main">
            <a:off x="533400" y="5905500"/>
            <a:ext cx="11125200" cy="400050"/>
          </a:xfrm>
          <a:prstGeom xmlns:a="http://schemas.openxmlformats.org/drawingml/2006/main" prst="rect">
            <a:avLst/>
          </a:prstGeom>
          <a:solidFill xmlns:a="http://schemas.openxmlformats.org/drawingml/2006/main">
            <a:srgbClr val="0B2838"/>
          </a:solidFill>
          <a:ln xmlns:a="http://schemas.openxmlformats.org/drawingml/2006/main" w="9525">
            <a:solidFill>
              <a:srgbClr val="0B2838"/>
            </a:solidFill>
            <a:prstDash val="solid"/>
          </a:ln>
        </p:spPr>
      </p:sp>
      <p:sp>
        <p:nvSpPr>
          <p:cNvPr id="7" name="dashboard-caption">
            <a:extLst xmlns:a="http://schemas.openxmlformats.org/drawingml/2006/main">
              <a:ext uri="{FF2B5EF4-FFF2-40B4-BE49-F238E27FC236}">
                <a16:creationId xmlns:a16="http://schemas.microsoft.com/office/drawing/2014/main" id="{B7107572-62CA-4BEE-8B55-D1E1B656255E}"/>
              </a:ext>
            </a:extLst>
          </p:cNvPr>
          <p:cNvSpPr>
            <a:spLocks xmlns:a="http://schemas.openxmlformats.org/drawingml/2006/main" noGrp="1"/>
          </p:cNvSpPr>
          <p:nvPr/>
        </p:nvSpPr>
        <p:spPr>
          <a:xfrm xmlns:a="http://schemas.openxmlformats.org/drawingml/2006/main">
            <a:off x="723900" y="6000750"/>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At a glance: shops · meters · alarms · tariff · live readings · invoice status · balances</a:t>
            </a:r>
          </a:p>
        </p:txBody>
      </p:sp>
      <p:sp>
        <p:nvSpPr>
          <p:cNvPr id="8" name="footer-brand-6">
            <a:extLst xmlns:a="http://schemas.openxmlformats.org/drawingml/2006/main">
              <a:ext uri="{FF2B5EF4-FFF2-40B4-BE49-F238E27FC236}">
                <a16:creationId xmlns:a16="http://schemas.microsoft.com/office/drawing/2014/main" id="{E3F550C0-4B7C-4BC8-94A9-1C9FC583565C}"/>
              </a:ext>
            </a:extLst>
          </p:cNvPr>
          <p:cNvSpPr>
            <a:spLocks xmlns:a="http://schemas.openxmlformats.org/drawingml/2006/main" noGrp="1"/>
          </p:cNvSpPr>
          <p:nvPr/>
        </p:nvSpPr>
        <p:spPr>
          <a:xfrm xmlns:a="http://schemas.openxmlformats.org/drawingml/2006/main">
            <a:off x="533400" y="64389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2666F"/>
                </a:solidFill>
                <a:latin typeface="Arial"/>
                <a:ea typeface="Arial"/>
                <a:cs typeface="Arial"/>
              </a:defRPr>
            </a:pPr>
            <a:r>
              <a:rPr sz="975" b="0">
                <a:solidFill>
                  <a:srgbClr val="52666F"/>
                </a:solidFill>
                <a:latin typeface="Arial"/>
                <a:ea typeface="Arial"/>
                <a:cs typeface="Arial"/>
              </a:rPr>
              <a:t>Watch Every Watt · By MicroBrain</a:t>
            </a:r>
          </a:p>
        </p:txBody>
      </p:sp>
      <p:sp>
        <p:nvSpPr>
          <p:cNvPr id="9" name="footer-number-6">
            <a:extLst xmlns:a="http://schemas.openxmlformats.org/drawingml/2006/main">
              <a:ext uri="{FF2B5EF4-FFF2-40B4-BE49-F238E27FC236}">
                <a16:creationId xmlns:a16="http://schemas.microsoft.com/office/drawing/2014/main" id="{BE4D8DD5-9430-46AD-8D35-DAAD6B4E5C51}"/>
              </a:ext>
            </a:extLst>
          </p:cNvPr>
          <p:cNvSpPr>
            <a:spLocks xmlns:a="http://schemas.openxmlformats.org/drawingml/2006/main" noGrp="1"/>
          </p:cNvSpPr>
          <p:nvPr/>
        </p:nvSpPr>
        <p:spPr>
          <a:xfrm xmlns:a="http://schemas.openxmlformats.org/drawingml/2006/main">
            <a:off x="11144250" y="64389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2666F"/>
                </a:solidFill>
                <a:latin typeface="Arial"/>
                <a:ea typeface="Arial"/>
                <a:cs typeface="Arial"/>
              </a:defRPr>
            </a:pPr>
            <a:r>
              <a:rPr sz="975" b="1">
                <a:solidFill>
                  <a:srgbClr val="52666F"/>
                </a:solidFill>
                <a:latin typeface="Arial"/>
                <a:ea typeface="Arial"/>
                <a:cs typeface="Arial"/>
              </a:rPr>
              <a:t>06</a:t>
            </a:r>
          </a:p>
        </p:txBody>
      </p:sp>
    </p:spTree>
    <p:extLst>
      <p:ext uri="{BB962C8B-B14F-4D97-AF65-F5344CB8AC3E}">
        <p14:creationId xmlns:p14="http://schemas.microsoft.com/office/powerpoint/2010/main" val="10721764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icker-7">
            <a:extLst xmlns:a="http://schemas.openxmlformats.org/drawingml/2006/main">
              <a:ext uri="{FF2B5EF4-FFF2-40B4-BE49-F238E27FC236}">
                <a16:creationId xmlns:a16="http://schemas.microsoft.com/office/drawing/2014/main" id="{9B0DE482-4496-4244-8EDB-6FCFECA2D638}"/>
              </a:ext>
            </a:extLst>
          </p:cNvPr>
          <p:cNvSpPr>
            <a:spLocks xmlns:a="http://schemas.openxmlformats.org/drawingml/2006/main" noGrp="1"/>
          </p:cNvSpPr>
          <p:nvPr/>
        </p:nvSpPr>
        <p:spPr>
          <a:xfrm xmlns:a="http://schemas.openxmlformats.org/drawingml/2006/main">
            <a:off x="53340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8F88"/>
                </a:solidFill>
                <a:latin typeface="Arial"/>
                <a:ea typeface="Arial"/>
                <a:cs typeface="Arial"/>
              </a:defRPr>
            </a:pPr>
            <a:r>
              <a:rPr sz="1050" b="1">
                <a:solidFill>
                  <a:srgbClr val="0A8F88"/>
                </a:solidFill>
                <a:latin typeface="Arial"/>
                <a:ea typeface="Arial"/>
                <a:cs typeface="Arial"/>
              </a:rPr>
              <a:t>WATCH DOG EM</a:t>
            </a:r>
          </a:p>
        </p:txBody>
      </p:sp>
      <p:sp>
        <p:nvSpPr>
          <p:cNvPr id="2" name="title-7">
            <a:extLst xmlns:a="http://schemas.openxmlformats.org/drawingml/2006/main">
              <a:ext uri="{FF2B5EF4-FFF2-40B4-BE49-F238E27FC236}">
                <a16:creationId xmlns:a16="http://schemas.microsoft.com/office/drawing/2014/main" id="{5A19565F-D3AD-4C6F-9D30-C3ED8D04F285}"/>
              </a:ext>
            </a:extLst>
          </p:cNvPr>
          <p:cNvSpPr>
            <a:spLocks xmlns:a="http://schemas.openxmlformats.org/drawingml/2006/main" noGrp="1"/>
          </p:cNvSpPr>
          <p:nvPr/>
        </p:nvSpPr>
        <p:spPr>
          <a:xfrm xmlns:a="http://schemas.openxmlformats.org/drawingml/2006/main">
            <a:off x="533400" y="6667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1242D"/>
                </a:solidFill>
                <a:latin typeface="Arial"/>
                <a:ea typeface="Arial"/>
                <a:cs typeface="Arial"/>
              </a:defRPr>
            </a:pPr>
            <a:r>
              <a:rPr sz="3600" b="1">
                <a:solidFill>
                  <a:srgbClr val="11242D"/>
                </a:solidFill>
                <a:latin typeface="Arial"/>
                <a:ea typeface="Arial"/>
                <a:cs typeface="Arial"/>
              </a:rPr>
              <a:t>Every shop can have its own tariff and currency</a:t>
            </a:r>
          </a:p>
        </p:txBody>
      </p:sp>
      <p:cxnSp>
        <p:nvCxnSpPr>
          <p:cNvPr id="18" name="header-rule-7"/>
          <p:cNvCxnSpPr/>
          <p:nvPr/>
        </p:nvCxnSpPr>
        <p:spPr>
          <a:xfrm xmlns:a="http://schemas.openxmlformats.org/drawingml/2006/main">
            <a:off x="533400" y="1428750"/>
            <a:ext cx="11125200" cy="0"/>
          </a:xfrm>
          <a:prstGeom xmlns:a="http://schemas.openxmlformats.org/drawingml/2006/main" prst="straightConnector1">
            <a:avLst/>
          </a:prstGeom>
          <a:ln xmlns:a="http://schemas.openxmlformats.org/drawingml/2006/main" w="9525">
            <a:solidFill>
              <a:srgbClr val="B7C4CA"/>
            </a:solidFill>
            <a:prstDash val="solid"/>
          </a:ln>
        </p:spPr>
      </p:cxnSp>
      <p:sp>
        <p:nvSpPr>
          <p:cNvPr id="4" name="tariff-left">
            <a:extLst xmlns:a="http://schemas.openxmlformats.org/drawingml/2006/main">
              <a:ext uri="{FF2B5EF4-FFF2-40B4-BE49-F238E27FC236}">
                <a16:creationId xmlns:a16="http://schemas.microsoft.com/office/drawing/2014/main" id="{245CBE07-4C75-4FBD-8524-C6237722A1F0}"/>
              </a:ext>
            </a:extLst>
          </p:cNvPr>
          <p:cNvSpPr>
            <a:spLocks xmlns:a="http://schemas.openxmlformats.org/drawingml/2006/main" noGrp="1"/>
          </p:cNvSpPr>
          <p:nvPr/>
        </p:nvSpPr>
        <p:spPr>
          <a:xfrm xmlns:a="http://schemas.openxmlformats.org/drawingml/2006/main">
            <a:off x="533400" y="1809750"/>
            <a:ext cx="5143500" cy="3048000"/>
          </a:xfrm>
          <a:prstGeom xmlns:a="http://schemas.openxmlformats.org/drawingml/2006/main" prst="rect">
            <a:avLst/>
          </a:prstGeom>
          <a:solidFill xmlns:a="http://schemas.openxmlformats.org/drawingml/2006/main">
            <a:srgbClr val="EEF3F5"/>
          </a:solidFill>
          <a:ln xmlns:a="http://schemas.openxmlformats.org/drawingml/2006/main" w="9525">
            <a:solidFill>
              <a:srgbClr val="EEF3F5"/>
            </a:solidFill>
            <a:prstDash val="solid"/>
          </a:ln>
        </p:spPr>
      </p:sp>
      <p:sp>
        <p:nvSpPr>
          <p:cNvPr id="5" name="tariff-left-title">
            <a:extLst xmlns:a="http://schemas.openxmlformats.org/drawingml/2006/main">
              <a:ext uri="{FF2B5EF4-FFF2-40B4-BE49-F238E27FC236}">
                <a16:creationId xmlns:a16="http://schemas.microsoft.com/office/drawing/2014/main" id="{0F9BFF07-6292-419E-99A8-6C3C33C67B38}"/>
              </a:ext>
            </a:extLst>
          </p:cNvPr>
          <p:cNvSpPr>
            <a:spLocks xmlns:a="http://schemas.openxmlformats.org/drawingml/2006/main" noGrp="1"/>
          </p:cNvSpPr>
          <p:nvPr/>
        </p:nvSpPr>
        <p:spPr>
          <a:xfrm xmlns:a="http://schemas.openxmlformats.org/drawingml/2006/main">
            <a:off x="819150" y="21431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1242D"/>
                </a:solidFill>
                <a:latin typeface="Arial"/>
                <a:ea typeface="Arial"/>
                <a:cs typeface="Arial"/>
              </a:defRPr>
            </a:pPr>
            <a:r>
              <a:rPr sz="2250" b="1">
                <a:solidFill>
                  <a:srgbClr val="11242D"/>
                </a:solidFill>
                <a:latin typeface="Arial"/>
                <a:ea typeface="Arial"/>
                <a:cs typeface="Arial"/>
              </a:rPr>
              <a:t>Meter-specific pricing</a:t>
            </a:r>
          </a:p>
        </p:txBody>
      </p:sp>
      <p:sp>
        <p:nvSpPr>
          <p:cNvPr id="6" name="tariff-left-body">
            <a:extLst xmlns:a="http://schemas.openxmlformats.org/drawingml/2006/main">
              <a:ext uri="{FF2B5EF4-FFF2-40B4-BE49-F238E27FC236}">
                <a16:creationId xmlns:a16="http://schemas.microsoft.com/office/drawing/2014/main" id="{910EF8B4-E699-4363-9996-01C9C5C07AD0}"/>
              </a:ext>
            </a:extLst>
          </p:cNvPr>
          <p:cNvSpPr>
            <a:spLocks xmlns:a="http://schemas.openxmlformats.org/drawingml/2006/main" noGrp="1"/>
          </p:cNvSpPr>
          <p:nvPr/>
        </p:nvSpPr>
        <p:spPr>
          <a:xfrm xmlns:a="http://schemas.openxmlformats.org/drawingml/2006/main">
            <a:off x="819150" y="2762250"/>
            <a:ext cx="4333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2666F"/>
                </a:solidFill>
                <a:latin typeface="Arial"/>
                <a:ea typeface="Arial"/>
                <a:cs typeface="Arial"/>
              </a:defRPr>
            </a:pPr>
            <a:r>
              <a:rPr sz="1650" b="0">
                <a:solidFill>
                  <a:srgbClr val="52666F"/>
                </a:solidFill>
                <a:latin typeface="Arial"/>
                <a:ea typeface="Arial"/>
                <a:cs typeface="Arial"/>
              </a:rPr>
              <a:t>Each meter keeps an effective-dated tariff history. Shop 1 can use one price per kWh while Shop 2 uses another.</a:t>
            </a:r>
          </a:p>
        </p:txBody>
      </p:sp>
      <p:sp>
        <p:nvSpPr>
          <p:cNvPr id="7" name="tariff-left-note">
            <a:extLst xmlns:a="http://schemas.openxmlformats.org/drawingml/2006/main">
              <a:ext uri="{FF2B5EF4-FFF2-40B4-BE49-F238E27FC236}">
                <a16:creationId xmlns:a16="http://schemas.microsoft.com/office/drawing/2014/main" id="{326E75C6-6992-478E-868C-796492FE1005}"/>
              </a:ext>
            </a:extLst>
          </p:cNvPr>
          <p:cNvSpPr>
            <a:spLocks xmlns:a="http://schemas.openxmlformats.org/drawingml/2006/main" noGrp="1"/>
          </p:cNvSpPr>
          <p:nvPr/>
        </p:nvSpPr>
        <p:spPr>
          <a:xfrm xmlns:a="http://schemas.openxmlformats.org/drawingml/2006/main">
            <a:off x="819150" y="4048125"/>
            <a:ext cx="433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8716D"/>
                </a:solidFill>
                <a:latin typeface="Arial"/>
                <a:ea typeface="Arial"/>
                <a:cs typeface="Arial"/>
              </a:defRPr>
            </a:pPr>
            <a:r>
              <a:rPr sz="1650" b="1">
                <a:solidFill>
                  <a:srgbClr val="08716D"/>
                </a:solidFill>
                <a:latin typeface="Arial"/>
                <a:ea typeface="Arial"/>
                <a:cs typeface="Arial"/>
              </a:rPr>
              <a:t>The correct tariff is selected for the billing date.</a:t>
            </a:r>
          </a:p>
        </p:txBody>
      </p:sp>
      <p:sp>
        <p:nvSpPr>
          <p:cNvPr id="8" name="tariff-right">
            <a:extLst xmlns:a="http://schemas.openxmlformats.org/drawingml/2006/main">
              <a:ext uri="{FF2B5EF4-FFF2-40B4-BE49-F238E27FC236}">
                <a16:creationId xmlns:a16="http://schemas.microsoft.com/office/drawing/2014/main" id="{4C6354A5-F85D-41CF-9458-E126CBF85639}"/>
              </a:ext>
            </a:extLst>
          </p:cNvPr>
          <p:cNvSpPr>
            <a:spLocks xmlns:a="http://schemas.openxmlformats.org/drawingml/2006/main" noGrp="1"/>
          </p:cNvSpPr>
          <p:nvPr/>
        </p:nvSpPr>
        <p:spPr>
          <a:xfrm xmlns:a="http://schemas.openxmlformats.org/drawingml/2006/main">
            <a:off x="5981700" y="1809750"/>
            <a:ext cx="5676900" cy="3048000"/>
          </a:xfrm>
          <a:prstGeom xmlns:a="http://schemas.openxmlformats.org/drawingml/2006/main" prst="rect">
            <a:avLst/>
          </a:prstGeom>
          <a:solidFill xmlns:a="http://schemas.openxmlformats.org/drawingml/2006/main">
            <a:srgbClr val="DDF2EE"/>
          </a:solidFill>
          <a:ln xmlns:a="http://schemas.openxmlformats.org/drawingml/2006/main" w="9525">
            <a:solidFill>
              <a:srgbClr val="DDF2EE"/>
            </a:solidFill>
            <a:prstDash val="solid"/>
          </a:ln>
        </p:spPr>
      </p:sp>
      <p:sp>
        <p:nvSpPr>
          <p:cNvPr id="9" name="tariff-right-title">
            <a:extLst xmlns:a="http://schemas.openxmlformats.org/drawingml/2006/main">
              <a:ext uri="{FF2B5EF4-FFF2-40B4-BE49-F238E27FC236}">
                <a16:creationId xmlns:a16="http://schemas.microsoft.com/office/drawing/2014/main" id="{4D8705AD-88A5-46C1-9061-1C3A6EE3C58D}"/>
              </a:ext>
            </a:extLst>
          </p:cNvPr>
          <p:cNvSpPr>
            <a:spLocks xmlns:a="http://schemas.openxmlformats.org/drawingml/2006/main" noGrp="1"/>
          </p:cNvSpPr>
          <p:nvPr/>
        </p:nvSpPr>
        <p:spPr>
          <a:xfrm xmlns:a="http://schemas.openxmlformats.org/drawingml/2006/main">
            <a:off x="6267450" y="2143125"/>
            <a:ext cx="500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B2838"/>
                </a:solidFill>
                <a:latin typeface="Arial"/>
                <a:ea typeface="Arial"/>
                <a:cs typeface="Arial"/>
              </a:defRPr>
            </a:pPr>
            <a:r>
              <a:rPr sz="2250" b="1">
                <a:solidFill>
                  <a:srgbClr val="0B2838"/>
                </a:solidFill>
                <a:latin typeface="Arial"/>
                <a:ea typeface="Arial"/>
                <a:cs typeface="Arial"/>
              </a:rPr>
              <a:t>Selectable currency</a:t>
            </a:r>
          </a:p>
        </p:txBody>
      </p:sp>
      <p:sp>
        <p:nvSpPr>
          <p:cNvPr id="10" name="tariff-right-body">
            <a:extLst xmlns:a="http://schemas.openxmlformats.org/drawingml/2006/main">
              <a:ext uri="{FF2B5EF4-FFF2-40B4-BE49-F238E27FC236}">
                <a16:creationId xmlns:a16="http://schemas.microsoft.com/office/drawing/2014/main" id="{8B0BD86D-B645-403D-9385-48A7FC8B390B}"/>
              </a:ext>
            </a:extLst>
          </p:cNvPr>
          <p:cNvSpPr>
            <a:spLocks xmlns:a="http://schemas.openxmlformats.org/drawingml/2006/main" noGrp="1"/>
          </p:cNvSpPr>
          <p:nvPr/>
        </p:nvSpPr>
        <p:spPr>
          <a:xfrm xmlns:a="http://schemas.openxmlformats.org/drawingml/2006/main">
            <a:off x="6267450" y="2762250"/>
            <a:ext cx="4857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2666F"/>
                </a:solidFill>
                <a:latin typeface="Arial"/>
                <a:ea typeface="Arial"/>
                <a:cs typeface="Arial"/>
              </a:defRPr>
            </a:pPr>
            <a:r>
              <a:rPr sz="1650" b="0">
                <a:solidFill>
                  <a:srgbClr val="52666F"/>
                </a:solidFill>
                <a:latin typeface="Arial"/>
                <a:ea typeface="Arial"/>
                <a:cs typeface="Arial"/>
              </a:rPr>
              <a:t>Tariffs, invoices, payments, balances and collection rates carry their currency code—supporting local operation in Uganda and other markets.</a:t>
            </a:r>
          </a:p>
        </p:txBody>
      </p:sp>
      <p:sp>
        <p:nvSpPr>
          <p:cNvPr id="11" name="tariff-right-note">
            <a:extLst xmlns:a="http://schemas.openxmlformats.org/drawingml/2006/main">
              <a:ext uri="{FF2B5EF4-FFF2-40B4-BE49-F238E27FC236}">
                <a16:creationId xmlns:a16="http://schemas.microsoft.com/office/drawing/2014/main" id="{254480E3-936F-4914-B258-D3A1582FD048}"/>
              </a:ext>
            </a:extLst>
          </p:cNvPr>
          <p:cNvSpPr>
            <a:spLocks xmlns:a="http://schemas.openxmlformats.org/drawingml/2006/main" noGrp="1"/>
          </p:cNvSpPr>
          <p:nvPr/>
        </p:nvSpPr>
        <p:spPr>
          <a:xfrm xmlns:a="http://schemas.openxmlformats.org/drawingml/2006/main">
            <a:off x="6267450" y="4048125"/>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8716D"/>
                </a:solidFill>
                <a:latin typeface="Arial"/>
                <a:ea typeface="Arial"/>
                <a:cs typeface="Arial"/>
              </a:defRPr>
            </a:pPr>
            <a:r>
              <a:rPr sz="1650" b="1">
                <a:solidFill>
                  <a:srgbClr val="08716D"/>
                </a:solidFill>
                <a:latin typeface="Arial"/>
                <a:ea typeface="Arial"/>
                <a:cs typeface="Arial"/>
              </a:rPr>
              <a:t>Dashboard totals remain separated by currency.</a:t>
            </a:r>
          </a:p>
        </p:txBody>
      </p:sp>
      <p:sp>
        <p:nvSpPr>
          <p:cNvPr id="12" name="formula">
            <a:extLst xmlns:a="http://schemas.openxmlformats.org/drawingml/2006/main">
              <a:ext uri="{FF2B5EF4-FFF2-40B4-BE49-F238E27FC236}">
                <a16:creationId xmlns:a16="http://schemas.microsoft.com/office/drawing/2014/main" id="{F007D549-10E8-483F-B01F-4113F1159D18}"/>
              </a:ext>
            </a:extLst>
          </p:cNvPr>
          <p:cNvSpPr>
            <a:spLocks xmlns:a="http://schemas.openxmlformats.org/drawingml/2006/main" noGrp="1"/>
          </p:cNvSpPr>
          <p:nvPr/>
        </p:nvSpPr>
        <p:spPr>
          <a:xfrm xmlns:a="http://schemas.openxmlformats.org/drawingml/2006/main">
            <a:off x="1524000" y="5191125"/>
            <a:ext cx="9144000" cy="685800"/>
          </a:xfrm>
          <a:prstGeom xmlns:a="http://schemas.openxmlformats.org/drawingml/2006/main" prst="rect">
            <a:avLst/>
          </a:prstGeom>
          <a:solidFill xmlns:a="http://schemas.openxmlformats.org/drawingml/2006/main">
            <a:srgbClr val="0B2838"/>
          </a:solidFill>
          <a:ln xmlns:a="http://schemas.openxmlformats.org/drawingml/2006/main" w="9525">
            <a:solidFill>
              <a:srgbClr val="0B2838"/>
            </a:solidFill>
            <a:prstDash val="solid"/>
          </a:ln>
        </p:spPr>
      </p:sp>
      <p:sp>
        <p:nvSpPr>
          <p:cNvPr id="13" name="formula-text">
            <a:extLst xmlns:a="http://schemas.openxmlformats.org/drawingml/2006/main">
              <a:ext uri="{FF2B5EF4-FFF2-40B4-BE49-F238E27FC236}">
                <a16:creationId xmlns:a16="http://schemas.microsoft.com/office/drawing/2014/main" id="{DA149DC3-C876-4FBF-BC24-F375A4A96F23}"/>
              </a:ext>
            </a:extLst>
          </p:cNvPr>
          <p:cNvSpPr>
            <a:spLocks xmlns:a="http://schemas.openxmlformats.org/drawingml/2006/main" noGrp="1"/>
          </p:cNvSpPr>
          <p:nvPr/>
        </p:nvSpPr>
        <p:spPr>
          <a:xfrm xmlns:a="http://schemas.openxmlformats.org/drawingml/2006/main">
            <a:off x="1714500" y="5381625"/>
            <a:ext cx="876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Consumption = closing − opening  •  Charge = consumption × tariff</a:t>
            </a:r>
          </a:p>
        </p:txBody>
      </p:sp>
      <p:sp>
        <p:nvSpPr>
          <p:cNvPr id="14" name="footer-brand-7">
            <a:extLst xmlns:a="http://schemas.openxmlformats.org/drawingml/2006/main">
              <a:ext uri="{FF2B5EF4-FFF2-40B4-BE49-F238E27FC236}">
                <a16:creationId xmlns:a16="http://schemas.microsoft.com/office/drawing/2014/main" id="{7D3F9897-AA4A-4D68-B443-00E4C4B8CC04}"/>
              </a:ext>
            </a:extLst>
          </p:cNvPr>
          <p:cNvSpPr>
            <a:spLocks xmlns:a="http://schemas.openxmlformats.org/drawingml/2006/main" noGrp="1"/>
          </p:cNvSpPr>
          <p:nvPr/>
        </p:nvSpPr>
        <p:spPr>
          <a:xfrm xmlns:a="http://schemas.openxmlformats.org/drawingml/2006/main">
            <a:off x="533400" y="64389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2666F"/>
                </a:solidFill>
                <a:latin typeface="Arial"/>
                <a:ea typeface="Arial"/>
                <a:cs typeface="Arial"/>
              </a:defRPr>
            </a:pPr>
            <a:r>
              <a:rPr sz="975" b="0">
                <a:solidFill>
                  <a:srgbClr val="52666F"/>
                </a:solidFill>
                <a:latin typeface="Arial"/>
                <a:ea typeface="Arial"/>
                <a:cs typeface="Arial"/>
              </a:rPr>
              <a:t>Watch Every Watt · By MicroBrain</a:t>
            </a:r>
          </a:p>
        </p:txBody>
      </p:sp>
      <p:sp>
        <p:nvSpPr>
          <p:cNvPr id="15" name="footer-number-7">
            <a:extLst xmlns:a="http://schemas.openxmlformats.org/drawingml/2006/main">
              <a:ext uri="{FF2B5EF4-FFF2-40B4-BE49-F238E27FC236}">
                <a16:creationId xmlns:a16="http://schemas.microsoft.com/office/drawing/2014/main" id="{BC0B9B5C-CB0B-435B-BA02-2C8E6C37006D}"/>
              </a:ext>
            </a:extLst>
          </p:cNvPr>
          <p:cNvSpPr>
            <a:spLocks xmlns:a="http://schemas.openxmlformats.org/drawingml/2006/main" noGrp="1"/>
          </p:cNvSpPr>
          <p:nvPr/>
        </p:nvSpPr>
        <p:spPr>
          <a:xfrm xmlns:a="http://schemas.openxmlformats.org/drawingml/2006/main">
            <a:off x="11144250" y="64389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2666F"/>
                </a:solidFill>
                <a:latin typeface="Arial"/>
                <a:ea typeface="Arial"/>
                <a:cs typeface="Arial"/>
              </a:defRPr>
            </a:pPr>
            <a:r>
              <a:rPr sz="975" b="1">
                <a:solidFill>
                  <a:srgbClr val="52666F"/>
                </a:solidFill>
                <a:latin typeface="Arial"/>
                <a:ea typeface="Arial"/>
                <a:cs typeface="Arial"/>
              </a:rPr>
              <a:t>07</a:t>
            </a:r>
          </a:p>
        </p:txBody>
      </p:sp>
    </p:spTree>
    <p:extLst>
      <p:ext uri="{BB962C8B-B14F-4D97-AF65-F5344CB8AC3E}">
        <p14:creationId xmlns:p14="http://schemas.microsoft.com/office/powerpoint/2010/main" val="1611348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kicker-8">
            <a:extLst xmlns:a="http://schemas.openxmlformats.org/drawingml/2006/main">
              <a:ext uri="{FF2B5EF4-FFF2-40B4-BE49-F238E27FC236}">
                <a16:creationId xmlns:a16="http://schemas.microsoft.com/office/drawing/2014/main" id="{6BE2EB99-D6FA-469F-AD81-B5A173A08A61}"/>
              </a:ext>
            </a:extLst>
          </p:cNvPr>
          <p:cNvSpPr>
            <a:spLocks xmlns:a="http://schemas.openxmlformats.org/drawingml/2006/main" noGrp="1"/>
          </p:cNvSpPr>
          <p:nvPr/>
        </p:nvSpPr>
        <p:spPr>
          <a:xfrm xmlns:a="http://schemas.openxmlformats.org/drawingml/2006/main">
            <a:off x="53340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8F88"/>
                </a:solidFill>
                <a:latin typeface="Arial"/>
                <a:ea typeface="Arial"/>
                <a:cs typeface="Arial"/>
              </a:defRPr>
            </a:pPr>
            <a:r>
              <a:rPr sz="1050" b="1">
                <a:solidFill>
                  <a:srgbClr val="0A8F88"/>
                </a:solidFill>
                <a:latin typeface="Arial"/>
                <a:ea typeface="Arial"/>
                <a:cs typeface="Arial"/>
              </a:rPr>
              <a:t>WATCH DOG EM</a:t>
            </a:r>
          </a:p>
        </p:txBody>
      </p:sp>
      <p:sp>
        <p:nvSpPr>
          <p:cNvPr id="2" name="title-8">
            <a:extLst xmlns:a="http://schemas.openxmlformats.org/drawingml/2006/main">
              <a:ext uri="{FF2B5EF4-FFF2-40B4-BE49-F238E27FC236}">
                <a16:creationId xmlns:a16="http://schemas.microsoft.com/office/drawing/2014/main" id="{9D0BE752-0B99-4DAB-B9FE-E18E57E8754F}"/>
              </a:ext>
            </a:extLst>
          </p:cNvPr>
          <p:cNvSpPr>
            <a:spLocks xmlns:a="http://schemas.openxmlformats.org/drawingml/2006/main" noGrp="1"/>
          </p:cNvSpPr>
          <p:nvPr/>
        </p:nvSpPr>
        <p:spPr>
          <a:xfrm xmlns:a="http://schemas.openxmlformats.org/drawingml/2006/main">
            <a:off x="533400" y="6667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1242D"/>
                </a:solidFill>
                <a:latin typeface="Arial"/>
                <a:ea typeface="Arial"/>
                <a:cs typeface="Arial"/>
              </a:defRPr>
            </a:pPr>
            <a:r>
              <a:rPr sz="3600" b="1">
                <a:solidFill>
                  <a:srgbClr val="11242D"/>
                </a:solidFill>
                <a:latin typeface="Arial"/>
                <a:ea typeface="Arial"/>
                <a:cs typeface="Arial"/>
              </a:rPr>
              <a:t>Monthly billing is controlled and repeatable</a:t>
            </a:r>
          </a:p>
        </p:txBody>
      </p:sp>
      <p:cxnSp>
        <p:nvCxnSpPr>
          <p:cNvPr id="30" name="header-rule-8"/>
          <p:cNvCxnSpPr/>
          <p:nvPr/>
        </p:nvCxnSpPr>
        <p:spPr>
          <a:xfrm xmlns:a="http://schemas.openxmlformats.org/drawingml/2006/main">
            <a:off x="533400" y="1428750"/>
            <a:ext cx="11125200" cy="0"/>
          </a:xfrm>
          <a:prstGeom xmlns:a="http://schemas.openxmlformats.org/drawingml/2006/main" prst="straightConnector1">
            <a:avLst/>
          </a:prstGeom>
          <a:ln xmlns:a="http://schemas.openxmlformats.org/drawingml/2006/main" w="9525">
            <a:solidFill>
              <a:srgbClr val="B7C4CA"/>
            </a:solidFill>
            <a:prstDash val="solid"/>
          </a:ln>
        </p:spPr>
      </p:cxnSp>
      <p:cxnSp>
        <p:nvCxnSpPr>
          <p:cNvPr id="31" name="month-line"/>
          <p:cNvCxnSpPr/>
          <p:nvPr/>
        </p:nvCxnSpPr>
        <p:spPr>
          <a:xfrm xmlns:a="http://schemas.openxmlformats.org/drawingml/2006/main">
            <a:off x="876300" y="3200400"/>
            <a:ext cx="9906000" cy="0"/>
          </a:xfrm>
          <a:prstGeom xmlns:a="http://schemas.openxmlformats.org/drawingml/2006/main" prst="straightConnector1">
            <a:avLst/>
          </a:prstGeom>
          <a:ln xmlns:a="http://schemas.openxmlformats.org/drawingml/2006/main" w="19050">
            <a:solidFill>
              <a:srgbClr val="B7C4CA"/>
            </a:solidFill>
            <a:prstDash val="solid"/>
          </a:ln>
        </p:spPr>
      </p:cxnSp>
      <p:sp>
        <p:nvSpPr>
          <p:cNvPr id="5" name="month-dot-0">
            <a:extLst xmlns:a="http://schemas.openxmlformats.org/drawingml/2006/main">
              <a:ext uri="{FF2B5EF4-FFF2-40B4-BE49-F238E27FC236}">
                <a16:creationId xmlns:a16="http://schemas.microsoft.com/office/drawing/2014/main" id="{E33FDFEC-4EE1-4172-819C-9474056DA653}"/>
              </a:ext>
            </a:extLst>
          </p:cNvPr>
          <p:cNvSpPr>
            <a:spLocks xmlns:a="http://schemas.openxmlformats.org/drawingml/2006/main" noGrp="1"/>
          </p:cNvSpPr>
          <p:nvPr/>
        </p:nvSpPr>
        <p:spPr>
          <a:xfrm xmlns:a="http://schemas.openxmlformats.org/drawingml/2006/main">
            <a:off x="666750" y="3067050"/>
            <a:ext cx="266700" cy="266700"/>
          </a:xfrm>
          <a:prstGeom xmlns:a="http://schemas.openxmlformats.org/drawingml/2006/main" prst="roundRect">
            <a:avLst>
              <a:gd name="adj" fmla="val 42857"/>
            </a:avLst>
          </a:prstGeom>
          <a:solidFill xmlns:a="http://schemas.openxmlformats.org/drawingml/2006/main">
            <a:srgbClr val="0A8F88"/>
          </a:solidFill>
          <a:ln xmlns:a="http://schemas.openxmlformats.org/drawingml/2006/main" w="9525">
            <a:solidFill>
              <a:srgbClr val="0A8F88"/>
            </a:solidFill>
            <a:prstDash val="solid"/>
          </a:ln>
        </p:spPr>
      </p:sp>
      <p:sp>
        <p:nvSpPr>
          <p:cNvPr id="6" name="month-num-0">
            <a:extLst xmlns:a="http://schemas.openxmlformats.org/drawingml/2006/main">
              <a:ext uri="{FF2B5EF4-FFF2-40B4-BE49-F238E27FC236}">
                <a16:creationId xmlns:a16="http://schemas.microsoft.com/office/drawing/2014/main" id="{6D799459-455A-47A9-A29D-183B8800E680}"/>
              </a:ext>
            </a:extLst>
          </p:cNvPr>
          <p:cNvSpPr>
            <a:spLocks xmlns:a="http://schemas.openxmlformats.org/drawingml/2006/main" noGrp="1"/>
          </p:cNvSpPr>
          <p:nvPr/>
        </p:nvSpPr>
        <p:spPr>
          <a:xfrm xmlns:a="http://schemas.openxmlformats.org/drawingml/2006/main">
            <a:off x="666750" y="30861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month-title-0">
            <a:extLst xmlns:a="http://schemas.openxmlformats.org/drawingml/2006/main">
              <a:ext uri="{FF2B5EF4-FFF2-40B4-BE49-F238E27FC236}">
                <a16:creationId xmlns:a16="http://schemas.microsoft.com/office/drawing/2014/main" id="{CEBB2734-B1F8-44E4-B5C9-6D1A5614A1B0}"/>
              </a:ext>
            </a:extLst>
          </p:cNvPr>
          <p:cNvSpPr>
            <a:spLocks xmlns:a="http://schemas.openxmlformats.org/drawingml/2006/main" noGrp="1"/>
          </p:cNvSpPr>
          <p:nvPr/>
        </p:nvSpPr>
        <p:spPr>
          <a:xfrm xmlns:a="http://schemas.openxmlformats.org/drawingml/2006/main">
            <a:off x="552450" y="366712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242D"/>
                </a:solidFill>
                <a:latin typeface="Arial"/>
                <a:ea typeface="Arial"/>
                <a:cs typeface="Arial"/>
              </a:defRPr>
            </a:pPr>
            <a:r>
              <a:rPr sz="1725" b="1">
                <a:solidFill>
                  <a:srgbClr val="11242D"/>
                </a:solidFill>
                <a:latin typeface="Arial"/>
                <a:ea typeface="Arial"/>
                <a:cs typeface="Arial"/>
              </a:rPr>
              <a:t>Open period</a:t>
            </a:r>
          </a:p>
        </p:txBody>
      </p:sp>
      <p:sp>
        <p:nvSpPr>
          <p:cNvPr id="8" name="month-body-0">
            <a:extLst xmlns:a="http://schemas.openxmlformats.org/drawingml/2006/main">
              <a:ext uri="{FF2B5EF4-FFF2-40B4-BE49-F238E27FC236}">
                <a16:creationId xmlns:a16="http://schemas.microsoft.com/office/drawing/2014/main" id="{A039332D-A21F-4BDF-841B-27FACB835EFF}"/>
              </a:ext>
            </a:extLst>
          </p:cNvPr>
          <p:cNvSpPr>
            <a:spLocks xmlns:a="http://schemas.openxmlformats.org/drawingml/2006/main" noGrp="1"/>
          </p:cNvSpPr>
          <p:nvPr/>
        </p:nvSpPr>
        <p:spPr>
          <a:xfrm xmlns:a="http://schemas.openxmlformats.org/drawingml/2006/main">
            <a:off x="552450" y="4114800"/>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66F"/>
                </a:solidFill>
                <a:latin typeface="Arial"/>
                <a:ea typeface="Arial"/>
                <a:cs typeface="Arial"/>
              </a:defRPr>
            </a:pPr>
            <a:r>
              <a:rPr sz="1275" b="0">
                <a:solidFill>
                  <a:srgbClr val="52666F"/>
                </a:solidFill>
                <a:latin typeface="Arial"/>
                <a:ea typeface="Arial"/>
                <a:cs typeface="Arial"/>
              </a:rPr>
              <a:t>Define the month and due date.</a:t>
            </a:r>
          </a:p>
        </p:txBody>
      </p:sp>
      <p:sp>
        <p:nvSpPr>
          <p:cNvPr id="9" name="month-dot-1">
            <a:extLst xmlns:a="http://schemas.openxmlformats.org/drawingml/2006/main">
              <a:ext uri="{FF2B5EF4-FFF2-40B4-BE49-F238E27FC236}">
                <a16:creationId xmlns:a16="http://schemas.microsoft.com/office/drawing/2014/main" id="{3D567E77-D59D-4BE0-81A8-3B401FA1AEFB}"/>
              </a:ext>
            </a:extLst>
          </p:cNvPr>
          <p:cNvSpPr>
            <a:spLocks xmlns:a="http://schemas.openxmlformats.org/drawingml/2006/main" noGrp="1"/>
          </p:cNvSpPr>
          <p:nvPr/>
        </p:nvSpPr>
        <p:spPr>
          <a:xfrm xmlns:a="http://schemas.openxmlformats.org/drawingml/2006/main">
            <a:off x="2857500" y="3067050"/>
            <a:ext cx="266700" cy="266700"/>
          </a:xfrm>
          <a:prstGeom xmlns:a="http://schemas.openxmlformats.org/drawingml/2006/main" prst="roundRect">
            <a:avLst>
              <a:gd name="adj" fmla="val 42857"/>
            </a:avLst>
          </a:prstGeom>
          <a:solidFill xmlns:a="http://schemas.openxmlformats.org/drawingml/2006/main">
            <a:srgbClr val="0A8F88"/>
          </a:solidFill>
          <a:ln xmlns:a="http://schemas.openxmlformats.org/drawingml/2006/main" w="9525">
            <a:solidFill>
              <a:srgbClr val="0A8F88"/>
            </a:solidFill>
            <a:prstDash val="solid"/>
          </a:ln>
        </p:spPr>
      </p:sp>
      <p:sp>
        <p:nvSpPr>
          <p:cNvPr id="10" name="month-num-1">
            <a:extLst xmlns:a="http://schemas.openxmlformats.org/drawingml/2006/main">
              <a:ext uri="{FF2B5EF4-FFF2-40B4-BE49-F238E27FC236}">
                <a16:creationId xmlns:a16="http://schemas.microsoft.com/office/drawing/2014/main" id="{3ABF54C7-E47B-46D1-BF7B-8D43280C474E}"/>
              </a:ext>
            </a:extLst>
          </p:cNvPr>
          <p:cNvSpPr>
            <a:spLocks xmlns:a="http://schemas.openxmlformats.org/drawingml/2006/main" noGrp="1"/>
          </p:cNvSpPr>
          <p:nvPr/>
        </p:nvSpPr>
        <p:spPr>
          <a:xfrm xmlns:a="http://schemas.openxmlformats.org/drawingml/2006/main">
            <a:off x="2857500" y="30861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1" name="month-title-1">
            <a:extLst xmlns:a="http://schemas.openxmlformats.org/drawingml/2006/main">
              <a:ext uri="{FF2B5EF4-FFF2-40B4-BE49-F238E27FC236}">
                <a16:creationId xmlns:a16="http://schemas.microsoft.com/office/drawing/2014/main" id="{E03AB851-6AEE-471D-8B72-884896BA74C9}"/>
              </a:ext>
            </a:extLst>
          </p:cNvPr>
          <p:cNvSpPr>
            <a:spLocks xmlns:a="http://schemas.openxmlformats.org/drawingml/2006/main" noGrp="1"/>
          </p:cNvSpPr>
          <p:nvPr/>
        </p:nvSpPr>
        <p:spPr>
          <a:xfrm xmlns:a="http://schemas.openxmlformats.org/drawingml/2006/main">
            <a:off x="2743200" y="366712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242D"/>
                </a:solidFill>
                <a:latin typeface="Arial"/>
                <a:ea typeface="Arial"/>
                <a:cs typeface="Arial"/>
              </a:defRPr>
            </a:pPr>
            <a:r>
              <a:rPr sz="1725" b="1">
                <a:solidFill>
                  <a:srgbClr val="11242D"/>
                </a:solidFill>
                <a:latin typeface="Arial"/>
                <a:ea typeface="Arial"/>
                <a:cs typeface="Arial"/>
              </a:rPr>
              <a:t>Capture readings</a:t>
            </a:r>
          </a:p>
        </p:txBody>
      </p:sp>
      <p:sp>
        <p:nvSpPr>
          <p:cNvPr id="12" name="month-body-1">
            <a:extLst xmlns:a="http://schemas.openxmlformats.org/drawingml/2006/main">
              <a:ext uri="{FF2B5EF4-FFF2-40B4-BE49-F238E27FC236}">
                <a16:creationId xmlns:a16="http://schemas.microsoft.com/office/drawing/2014/main" id="{00946A69-5C37-4695-8C57-5D9ED5B0364A}"/>
              </a:ext>
            </a:extLst>
          </p:cNvPr>
          <p:cNvSpPr>
            <a:spLocks xmlns:a="http://schemas.openxmlformats.org/drawingml/2006/main" noGrp="1"/>
          </p:cNvSpPr>
          <p:nvPr/>
        </p:nvSpPr>
        <p:spPr>
          <a:xfrm xmlns:a="http://schemas.openxmlformats.org/drawingml/2006/main">
            <a:off x="2743200" y="4114800"/>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66F"/>
                </a:solidFill>
                <a:latin typeface="Arial"/>
                <a:ea typeface="Arial"/>
                <a:cs typeface="Arial"/>
              </a:defRPr>
            </a:pPr>
            <a:r>
              <a:rPr sz="1275" b="0">
                <a:solidFill>
                  <a:srgbClr val="52666F"/>
                </a:solidFill>
                <a:latin typeface="Arial"/>
                <a:ea typeface="Arial"/>
                <a:cs typeface="Arial"/>
              </a:rPr>
              <a:t>Use automatic readings or an authorized correction.</a:t>
            </a:r>
          </a:p>
        </p:txBody>
      </p:sp>
      <p:sp>
        <p:nvSpPr>
          <p:cNvPr id="13" name="month-dot-2">
            <a:extLst xmlns:a="http://schemas.openxmlformats.org/drawingml/2006/main">
              <a:ext uri="{FF2B5EF4-FFF2-40B4-BE49-F238E27FC236}">
                <a16:creationId xmlns:a16="http://schemas.microsoft.com/office/drawing/2014/main" id="{DF35C2C7-D277-4DB0-8D1B-588CEC36DFBF}"/>
              </a:ext>
            </a:extLst>
          </p:cNvPr>
          <p:cNvSpPr>
            <a:spLocks xmlns:a="http://schemas.openxmlformats.org/drawingml/2006/main" noGrp="1"/>
          </p:cNvSpPr>
          <p:nvPr/>
        </p:nvSpPr>
        <p:spPr>
          <a:xfrm xmlns:a="http://schemas.openxmlformats.org/drawingml/2006/main">
            <a:off x="5048250" y="3067050"/>
            <a:ext cx="266700" cy="266700"/>
          </a:xfrm>
          <a:prstGeom xmlns:a="http://schemas.openxmlformats.org/drawingml/2006/main" prst="roundRect">
            <a:avLst>
              <a:gd name="adj" fmla="val 42857"/>
            </a:avLst>
          </a:prstGeom>
          <a:solidFill xmlns:a="http://schemas.openxmlformats.org/drawingml/2006/main">
            <a:srgbClr val="0A8F88"/>
          </a:solidFill>
          <a:ln xmlns:a="http://schemas.openxmlformats.org/drawingml/2006/main" w="9525">
            <a:solidFill>
              <a:srgbClr val="0A8F88"/>
            </a:solidFill>
            <a:prstDash val="solid"/>
          </a:ln>
        </p:spPr>
      </p:sp>
      <p:sp>
        <p:nvSpPr>
          <p:cNvPr id="14" name="month-num-2">
            <a:extLst xmlns:a="http://schemas.openxmlformats.org/drawingml/2006/main">
              <a:ext uri="{FF2B5EF4-FFF2-40B4-BE49-F238E27FC236}">
                <a16:creationId xmlns:a16="http://schemas.microsoft.com/office/drawing/2014/main" id="{4460A7C4-B631-4FF7-94ED-477E6B602466}"/>
              </a:ext>
            </a:extLst>
          </p:cNvPr>
          <p:cNvSpPr>
            <a:spLocks xmlns:a="http://schemas.openxmlformats.org/drawingml/2006/main" noGrp="1"/>
          </p:cNvSpPr>
          <p:nvPr/>
        </p:nvSpPr>
        <p:spPr>
          <a:xfrm xmlns:a="http://schemas.openxmlformats.org/drawingml/2006/main">
            <a:off x="5048250" y="30861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5" name="month-title-2">
            <a:extLst xmlns:a="http://schemas.openxmlformats.org/drawingml/2006/main">
              <a:ext uri="{FF2B5EF4-FFF2-40B4-BE49-F238E27FC236}">
                <a16:creationId xmlns:a16="http://schemas.microsoft.com/office/drawing/2014/main" id="{5C3830F0-C05C-4CF8-B891-0D64239FB1AC}"/>
              </a:ext>
            </a:extLst>
          </p:cNvPr>
          <p:cNvSpPr>
            <a:spLocks xmlns:a="http://schemas.openxmlformats.org/drawingml/2006/main" noGrp="1"/>
          </p:cNvSpPr>
          <p:nvPr/>
        </p:nvSpPr>
        <p:spPr>
          <a:xfrm xmlns:a="http://schemas.openxmlformats.org/drawingml/2006/main">
            <a:off x="4933950" y="366712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242D"/>
                </a:solidFill>
                <a:latin typeface="Arial"/>
                <a:ea typeface="Arial"/>
                <a:cs typeface="Arial"/>
              </a:defRPr>
            </a:pPr>
            <a:r>
              <a:rPr sz="1725" b="1">
                <a:solidFill>
                  <a:srgbClr val="11242D"/>
                </a:solidFill>
                <a:latin typeface="Arial"/>
                <a:ea typeface="Arial"/>
                <a:cs typeface="Arial"/>
              </a:rPr>
              <a:t>Calculate</a:t>
            </a:r>
          </a:p>
        </p:txBody>
      </p:sp>
      <p:sp>
        <p:nvSpPr>
          <p:cNvPr id="16" name="month-body-2">
            <a:extLst xmlns:a="http://schemas.openxmlformats.org/drawingml/2006/main">
              <a:ext uri="{FF2B5EF4-FFF2-40B4-BE49-F238E27FC236}">
                <a16:creationId xmlns:a16="http://schemas.microsoft.com/office/drawing/2014/main" id="{A4FDC602-64E9-4918-8193-36B4CCECDC71}"/>
              </a:ext>
            </a:extLst>
          </p:cNvPr>
          <p:cNvSpPr>
            <a:spLocks xmlns:a="http://schemas.openxmlformats.org/drawingml/2006/main" noGrp="1"/>
          </p:cNvSpPr>
          <p:nvPr/>
        </p:nvSpPr>
        <p:spPr>
          <a:xfrm xmlns:a="http://schemas.openxmlformats.org/drawingml/2006/main">
            <a:off x="4933950" y="4114800"/>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66F"/>
                </a:solidFill>
                <a:latin typeface="Arial"/>
                <a:ea typeface="Arial"/>
                <a:cs typeface="Arial"/>
              </a:defRPr>
            </a:pPr>
            <a:r>
              <a:rPr sz="1275" b="0">
                <a:solidFill>
                  <a:srgbClr val="52666F"/>
                </a:solidFill>
                <a:latin typeface="Arial"/>
                <a:ea typeface="Arial"/>
                <a:cs typeface="Arial"/>
              </a:rPr>
              <a:t>Apply tariff, fixed charges, tax and adjustments.</a:t>
            </a:r>
          </a:p>
        </p:txBody>
      </p:sp>
      <p:sp>
        <p:nvSpPr>
          <p:cNvPr id="17" name="month-dot-3">
            <a:extLst xmlns:a="http://schemas.openxmlformats.org/drawingml/2006/main">
              <a:ext uri="{FF2B5EF4-FFF2-40B4-BE49-F238E27FC236}">
                <a16:creationId xmlns:a16="http://schemas.microsoft.com/office/drawing/2014/main" id="{4D51D886-FEE2-4E2C-BFC1-450840134D10}"/>
              </a:ext>
            </a:extLst>
          </p:cNvPr>
          <p:cNvSpPr>
            <a:spLocks xmlns:a="http://schemas.openxmlformats.org/drawingml/2006/main" noGrp="1"/>
          </p:cNvSpPr>
          <p:nvPr/>
        </p:nvSpPr>
        <p:spPr>
          <a:xfrm xmlns:a="http://schemas.openxmlformats.org/drawingml/2006/main">
            <a:off x="7239000" y="3067050"/>
            <a:ext cx="266700" cy="266700"/>
          </a:xfrm>
          <a:prstGeom xmlns:a="http://schemas.openxmlformats.org/drawingml/2006/main" prst="roundRect">
            <a:avLst>
              <a:gd name="adj" fmla="val 42857"/>
            </a:avLst>
          </a:prstGeom>
          <a:solidFill xmlns:a="http://schemas.openxmlformats.org/drawingml/2006/main">
            <a:srgbClr val="0A8F88"/>
          </a:solidFill>
          <a:ln xmlns:a="http://schemas.openxmlformats.org/drawingml/2006/main" w="9525">
            <a:solidFill>
              <a:srgbClr val="0A8F88"/>
            </a:solidFill>
            <a:prstDash val="solid"/>
          </a:ln>
        </p:spPr>
      </p:sp>
      <p:sp>
        <p:nvSpPr>
          <p:cNvPr id="18" name="month-num-3">
            <a:extLst xmlns:a="http://schemas.openxmlformats.org/drawingml/2006/main">
              <a:ext uri="{FF2B5EF4-FFF2-40B4-BE49-F238E27FC236}">
                <a16:creationId xmlns:a16="http://schemas.microsoft.com/office/drawing/2014/main" id="{13564ADE-8F47-4F3A-9C54-B88B3E88F656}"/>
              </a:ext>
            </a:extLst>
          </p:cNvPr>
          <p:cNvSpPr>
            <a:spLocks xmlns:a="http://schemas.openxmlformats.org/drawingml/2006/main" noGrp="1"/>
          </p:cNvSpPr>
          <p:nvPr/>
        </p:nvSpPr>
        <p:spPr>
          <a:xfrm xmlns:a="http://schemas.openxmlformats.org/drawingml/2006/main">
            <a:off x="7239000" y="30861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9" name="month-title-3">
            <a:extLst xmlns:a="http://schemas.openxmlformats.org/drawingml/2006/main">
              <a:ext uri="{FF2B5EF4-FFF2-40B4-BE49-F238E27FC236}">
                <a16:creationId xmlns:a16="http://schemas.microsoft.com/office/drawing/2014/main" id="{32AE3E1A-D272-4294-9E6E-15647EEBD6BE}"/>
              </a:ext>
            </a:extLst>
          </p:cNvPr>
          <p:cNvSpPr>
            <a:spLocks xmlns:a="http://schemas.openxmlformats.org/drawingml/2006/main" noGrp="1"/>
          </p:cNvSpPr>
          <p:nvPr/>
        </p:nvSpPr>
        <p:spPr>
          <a:xfrm xmlns:a="http://schemas.openxmlformats.org/drawingml/2006/main">
            <a:off x="7124700" y="366712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242D"/>
                </a:solidFill>
                <a:latin typeface="Arial"/>
                <a:ea typeface="Arial"/>
                <a:cs typeface="Arial"/>
              </a:defRPr>
            </a:pPr>
            <a:r>
              <a:rPr sz="1725" b="1">
                <a:solidFill>
                  <a:srgbClr val="11242D"/>
                </a:solidFill>
                <a:latin typeface="Arial"/>
                <a:ea typeface="Arial"/>
                <a:cs typeface="Arial"/>
              </a:rPr>
              <a:t>Finalize</a:t>
            </a:r>
          </a:p>
        </p:txBody>
      </p:sp>
      <p:sp>
        <p:nvSpPr>
          <p:cNvPr id="20" name="month-body-3">
            <a:extLst xmlns:a="http://schemas.openxmlformats.org/drawingml/2006/main">
              <a:ext uri="{FF2B5EF4-FFF2-40B4-BE49-F238E27FC236}">
                <a16:creationId xmlns:a16="http://schemas.microsoft.com/office/drawing/2014/main" id="{771D02FD-2246-40A8-87EB-E323CACA3652}"/>
              </a:ext>
            </a:extLst>
          </p:cNvPr>
          <p:cNvSpPr>
            <a:spLocks xmlns:a="http://schemas.openxmlformats.org/drawingml/2006/main" noGrp="1"/>
          </p:cNvSpPr>
          <p:nvPr/>
        </p:nvSpPr>
        <p:spPr>
          <a:xfrm xmlns:a="http://schemas.openxmlformats.org/drawingml/2006/main">
            <a:off x="7124700" y="4114800"/>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66F"/>
                </a:solidFill>
                <a:latin typeface="Arial"/>
                <a:ea typeface="Arial"/>
                <a:cs typeface="Arial"/>
              </a:defRPr>
            </a:pPr>
            <a:r>
              <a:rPr sz="1275" b="0">
                <a:solidFill>
                  <a:srgbClr val="52666F"/>
                </a:solidFill>
                <a:latin typeface="Arial"/>
                <a:ea typeface="Arial"/>
                <a:cs typeface="Arial"/>
              </a:rPr>
              <a:t>Lock the invoice and preserve its billing snapshot.</a:t>
            </a:r>
          </a:p>
        </p:txBody>
      </p:sp>
      <p:sp>
        <p:nvSpPr>
          <p:cNvPr id="21" name="month-dot-4">
            <a:extLst xmlns:a="http://schemas.openxmlformats.org/drawingml/2006/main">
              <a:ext uri="{FF2B5EF4-FFF2-40B4-BE49-F238E27FC236}">
                <a16:creationId xmlns:a16="http://schemas.microsoft.com/office/drawing/2014/main" id="{DEDEED99-2B82-4E61-AE57-07603E4432DF}"/>
              </a:ext>
            </a:extLst>
          </p:cNvPr>
          <p:cNvSpPr>
            <a:spLocks xmlns:a="http://schemas.openxmlformats.org/drawingml/2006/main" noGrp="1"/>
          </p:cNvSpPr>
          <p:nvPr/>
        </p:nvSpPr>
        <p:spPr>
          <a:xfrm xmlns:a="http://schemas.openxmlformats.org/drawingml/2006/main">
            <a:off x="9429750" y="3067050"/>
            <a:ext cx="266700" cy="266700"/>
          </a:xfrm>
          <a:prstGeom xmlns:a="http://schemas.openxmlformats.org/drawingml/2006/main" prst="roundRect">
            <a:avLst>
              <a:gd name="adj" fmla="val 42857"/>
            </a:avLst>
          </a:prstGeom>
          <a:solidFill xmlns:a="http://schemas.openxmlformats.org/drawingml/2006/main">
            <a:srgbClr val="0A8F88"/>
          </a:solidFill>
          <a:ln xmlns:a="http://schemas.openxmlformats.org/drawingml/2006/main" w="9525">
            <a:solidFill>
              <a:srgbClr val="0A8F88"/>
            </a:solidFill>
            <a:prstDash val="solid"/>
          </a:ln>
        </p:spPr>
      </p:sp>
      <p:sp>
        <p:nvSpPr>
          <p:cNvPr id="22" name="month-num-4">
            <a:extLst xmlns:a="http://schemas.openxmlformats.org/drawingml/2006/main">
              <a:ext uri="{FF2B5EF4-FFF2-40B4-BE49-F238E27FC236}">
                <a16:creationId xmlns:a16="http://schemas.microsoft.com/office/drawing/2014/main" id="{864D0836-BAE6-4953-8007-8D7D82138182}"/>
              </a:ext>
            </a:extLst>
          </p:cNvPr>
          <p:cNvSpPr>
            <a:spLocks xmlns:a="http://schemas.openxmlformats.org/drawingml/2006/main" noGrp="1"/>
          </p:cNvSpPr>
          <p:nvPr/>
        </p:nvSpPr>
        <p:spPr>
          <a:xfrm xmlns:a="http://schemas.openxmlformats.org/drawingml/2006/main">
            <a:off x="9429750" y="30861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23" name="month-title-4">
            <a:extLst xmlns:a="http://schemas.openxmlformats.org/drawingml/2006/main">
              <a:ext uri="{FF2B5EF4-FFF2-40B4-BE49-F238E27FC236}">
                <a16:creationId xmlns:a16="http://schemas.microsoft.com/office/drawing/2014/main" id="{D2CA684B-F863-4075-89CB-74B9DD74E734}"/>
              </a:ext>
            </a:extLst>
          </p:cNvPr>
          <p:cNvSpPr>
            <a:spLocks xmlns:a="http://schemas.openxmlformats.org/drawingml/2006/main" noGrp="1"/>
          </p:cNvSpPr>
          <p:nvPr/>
        </p:nvSpPr>
        <p:spPr>
          <a:xfrm xmlns:a="http://schemas.openxmlformats.org/drawingml/2006/main">
            <a:off x="9315450" y="366712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242D"/>
                </a:solidFill>
                <a:latin typeface="Arial"/>
                <a:ea typeface="Arial"/>
                <a:cs typeface="Arial"/>
              </a:defRPr>
            </a:pPr>
            <a:r>
              <a:rPr sz="1725" b="1">
                <a:solidFill>
                  <a:srgbClr val="11242D"/>
                </a:solidFill>
                <a:latin typeface="Arial"/>
                <a:ea typeface="Arial"/>
                <a:cs typeface="Arial"/>
              </a:rPr>
              <a:t>Collect</a:t>
            </a:r>
          </a:p>
        </p:txBody>
      </p:sp>
      <p:sp>
        <p:nvSpPr>
          <p:cNvPr id="24" name="month-body-4">
            <a:extLst xmlns:a="http://schemas.openxmlformats.org/drawingml/2006/main">
              <a:ext uri="{FF2B5EF4-FFF2-40B4-BE49-F238E27FC236}">
                <a16:creationId xmlns:a16="http://schemas.microsoft.com/office/drawing/2014/main" id="{EDF5EA0D-30BA-4822-ACC7-68A275F9A65D}"/>
              </a:ext>
            </a:extLst>
          </p:cNvPr>
          <p:cNvSpPr>
            <a:spLocks xmlns:a="http://schemas.openxmlformats.org/drawingml/2006/main" noGrp="1"/>
          </p:cNvSpPr>
          <p:nvPr/>
        </p:nvSpPr>
        <p:spPr>
          <a:xfrm xmlns:a="http://schemas.openxmlformats.org/drawingml/2006/main">
            <a:off x="9315450" y="4114800"/>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66F"/>
                </a:solidFill>
                <a:latin typeface="Arial"/>
                <a:ea typeface="Arial"/>
                <a:cs typeface="Arial"/>
              </a:defRPr>
            </a:pPr>
            <a:r>
              <a:rPr sz="1275" b="0">
                <a:solidFill>
                  <a:srgbClr val="52666F"/>
                </a:solidFill>
                <a:latin typeface="Arial"/>
                <a:ea typeface="Arial"/>
                <a:cs typeface="Arial"/>
              </a:rPr>
              <a:t>Record payments and monitor remaining balances.</a:t>
            </a:r>
          </a:p>
        </p:txBody>
      </p:sp>
      <p:sp>
        <p:nvSpPr>
          <p:cNvPr id="25" name="month-message">
            <a:extLst xmlns:a="http://schemas.openxmlformats.org/drawingml/2006/main">
              <a:ext uri="{FF2B5EF4-FFF2-40B4-BE49-F238E27FC236}">
                <a16:creationId xmlns:a16="http://schemas.microsoft.com/office/drawing/2014/main" id="{17B0F122-8AED-40B1-A125-7D0614B602D4}"/>
              </a:ext>
            </a:extLst>
          </p:cNvPr>
          <p:cNvSpPr>
            <a:spLocks xmlns:a="http://schemas.openxmlformats.org/drawingml/2006/main" noGrp="1"/>
          </p:cNvSpPr>
          <p:nvPr/>
        </p:nvSpPr>
        <p:spPr>
          <a:xfrm xmlns:a="http://schemas.openxmlformats.org/drawingml/2006/main">
            <a:off x="2000250" y="5476875"/>
            <a:ext cx="819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08716D"/>
                </a:solidFill>
                <a:latin typeface="Arial"/>
                <a:ea typeface="Arial"/>
                <a:cs typeface="Arial"/>
              </a:defRPr>
            </a:pPr>
            <a:r>
              <a:rPr sz="2100" b="1">
                <a:solidFill>
                  <a:srgbClr val="08716D"/>
                </a:solidFill>
                <a:latin typeface="Arial"/>
                <a:ea typeface="Arial"/>
                <a:cs typeface="Arial"/>
              </a:rPr>
              <a:t>Finalization turns a calculation into a controlled customer document.</a:t>
            </a:r>
          </a:p>
        </p:txBody>
      </p:sp>
      <p:sp>
        <p:nvSpPr>
          <p:cNvPr id="26" name="footer-brand-8">
            <a:extLst xmlns:a="http://schemas.openxmlformats.org/drawingml/2006/main">
              <a:ext uri="{FF2B5EF4-FFF2-40B4-BE49-F238E27FC236}">
                <a16:creationId xmlns:a16="http://schemas.microsoft.com/office/drawing/2014/main" id="{7D69D592-E0E7-4F1C-BE9B-F4E9E25AE609}"/>
              </a:ext>
            </a:extLst>
          </p:cNvPr>
          <p:cNvSpPr>
            <a:spLocks xmlns:a="http://schemas.openxmlformats.org/drawingml/2006/main" noGrp="1"/>
          </p:cNvSpPr>
          <p:nvPr/>
        </p:nvSpPr>
        <p:spPr>
          <a:xfrm xmlns:a="http://schemas.openxmlformats.org/drawingml/2006/main">
            <a:off x="533400" y="64389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2666F"/>
                </a:solidFill>
                <a:latin typeface="Arial"/>
                <a:ea typeface="Arial"/>
                <a:cs typeface="Arial"/>
              </a:defRPr>
            </a:pPr>
            <a:r>
              <a:rPr sz="975" b="0">
                <a:solidFill>
                  <a:srgbClr val="52666F"/>
                </a:solidFill>
                <a:latin typeface="Arial"/>
                <a:ea typeface="Arial"/>
                <a:cs typeface="Arial"/>
              </a:rPr>
              <a:t>Watch Every Watt · By MicroBrain</a:t>
            </a:r>
          </a:p>
        </p:txBody>
      </p:sp>
      <p:sp>
        <p:nvSpPr>
          <p:cNvPr id="27" name="footer-number-8">
            <a:extLst xmlns:a="http://schemas.openxmlformats.org/drawingml/2006/main">
              <a:ext uri="{FF2B5EF4-FFF2-40B4-BE49-F238E27FC236}">
                <a16:creationId xmlns:a16="http://schemas.microsoft.com/office/drawing/2014/main" id="{F85DBA22-A850-446E-8EE4-61450BF8755F}"/>
              </a:ext>
            </a:extLst>
          </p:cNvPr>
          <p:cNvSpPr>
            <a:spLocks xmlns:a="http://schemas.openxmlformats.org/drawingml/2006/main" noGrp="1"/>
          </p:cNvSpPr>
          <p:nvPr/>
        </p:nvSpPr>
        <p:spPr>
          <a:xfrm xmlns:a="http://schemas.openxmlformats.org/drawingml/2006/main">
            <a:off x="11144250" y="64389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2666F"/>
                </a:solidFill>
                <a:latin typeface="Arial"/>
                <a:ea typeface="Arial"/>
                <a:cs typeface="Arial"/>
              </a:defRPr>
            </a:pPr>
            <a:r>
              <a:rPr sz="975" b="1">
                <a:solidFill>
                  <a:srgbClr val="52666F"/>
                </a:solidFill>
                <a:latin typeface="Arial"/>
                <a:ea typeface="Arial"/>
                <a:cs typeface="Arial"/>
              </a:rPr>
              <a:t>08</a:t>
            </a:r>
          </a:p>
        </p:txBody>
      </p:sp>
    </p:spTree>
    <p:extLst>
      <p:ext uri="{BB962C8B-B14F-4D97-AF65-F5344CB8AC3E}">
        <p14:creationId xmlns:p14="http://schemas.microsoft.com/office/powerpoint/2010/main" val="11892505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kicker-9">
            <a:extLst xmlns:a="http://schemas.openxmlformats.org/drawingml/2006/main">
              <a:ext uri="{FF2B5EF4-FFF2-40B4-BE49-F238E27FC236}">
                <a16:creationId xmlns:a16="http://schemas.microsoft.com/office/drawing/2014/main" id="{242CAA0D-41C5-4562-8DBA-C519945741B9}"/>
              </a:ext>
            </a:extLst>
          </p:cNvPr>
          <p:cNvSpPr>
            <a:spLocks xmlns:a="http://schemas.openxmlformats.org/drawingml/2006/main" noGrp="1"/>
          </p:cNvSpPr>
          <p:nvPr/>
        </p:nvSpPr>
        <p:spPr>
          <a:xfrm xmlns:a="http://schemas.openxmlformats.org/drawingml/2006/main">
            <a:off x="53340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8F88"/>
                </a:solidFill>
                <a:latin typeface="Arial"/>
                <a:ea typeface="Arial"/>
                <a:cs typeface="Arial"/>
              </a:defRPr>
            </a:pPr>
            <a:r>
              <a:rPr sz="1050" b="1">
                <a:solidFill>
                  <a:srgbClr val="0A8F88"/>
                </a:solidFill>
                <a:latin typeface="Arial"/>
                <a:ea typeface="Arial"/>
                <a:cs typeface="Arial"/>
              </a:rPr>
              <a:t>WATCH DOG EM</a:t>
            </a:r>
          </a:p>
        </p:txBody>
      </p:sp>
      <p:sp>
        <p:nvSpPr>
          <p:cNvPr id="2" name="title-9">
            <a:extLst xmlns:a="http://schemas.openxmlformats.org/drawingml/2006/main">
              <a:ext uri="{FF2B5EF4-FFF2-40B4-BE49-F238E27FC236}">
                <a16:creationId xmlns:a16="http://schemas.microsoft.com/office/drawing/2014/main" id="{FB18A721-B09E-4CF8-AFF9-F0E7476D7AF1}"/>
              </a:ext>
            </a:extLst>
          </p:cNvPr>
          <p:cNvSpPr>
            <a:spLocks xmlns:a="http://schemas.openxmlformats.org/drawingml/2006/main" noGrp="1"/>
          </p:cNvSpPr>
          <p:nvPr/>
        </p:nvSpPr>
        <p:spPr>
          <a:xfrm xmlns:a="http://schemas.openxmlformats.org/drawingml/2006/main">
            <a:off x="533400" y="6667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1242D"/>
                </a:solidFill>
                <a:latin typeface="Arial"/>
                <a:ea typeface="Arial"/>
                <a:cs typeface="Arial"/>
              </a:defRPr>
            </a:pPr>
            <a:r>
              <a:rPr sz="3600" b="1">
                <a:solidFill>
                  <a:srgbClr val="11242D"/>
                </a:solidFill>
                <a:latin typeface="Arial"/>
                <a:ea typeface="Arial"/>
                <a:cs typeface="Arial"/>
              </a:rPr>
              <a:t>Administrator controls protect the system</a:t>
            </a:r>
          </a:p>
        </p:txBody>
      </p:sp>
      <p:cxnSp>
        <p:nvCxnSpPr>
          <p:cNvPr id="24" name="header-rule-9"/>
          <p:cNvCxnSpPr/>
          <p:nvPr/>
        </p:nvCxnSpPr>
        <p:spPr>
          <a:xfrm xmlns:a="http://schemas.openxmlformats.org/drawingml/2006/main">
            <a:off x="533400" y="1428750"/>
            <a:ext cx="11125200" cy="0"/>
          </a:xfrm>
          <a:prstGeom xmlns:a="http://schemas.openxmlformats.org/drawingml/2006/main" prst="straightConnector1">
            <a:avLst/>
          </a:prstGeom>
          <a:ln xmlns:a="http://schemas.openxmlformats.org/drawingml/2006/main" w="9525">
            <a:solidFill>
              <a:srgbClr val="B7C4CA"/>
            </a:solidFill>
            <a:prstDash val="solid"/>
          </a:ln>
        </p:spPr>
      </p:cxnSp>
      <p:sp>
        <p:nvSpPr>
          <p:cNvPr id="4" name="control-index-0">
            <a:extLst xmlns:a="http://schemas.openxmlformats.org/drawingml/2006/main">
              <a:ext uri="{FF2B5EF4-FFF2-40B4-BE49-F238E27FC236}">
                <a16:creationId xmlns:a16="http://schemas.microsoft.com/office/drawing/2014/main" id="{6985F0F5-E0BB-4001-A7F7-C2C0A5AB12EB}"/>
              </a:ext>
            </a:extLst>
          </p:cNvPr>
          <p:cNvSpPr>
            <a:spLocks xmlns:a="http://schemas.openxmlformats.org/drawingml/2006/main" noGrp="1"/>
          </p:cNvSpPr>
          <p:nvPr/>
        </p:nvSpPr>
        <p:spPr>
          <a:xfrm xmlns:a="http://schemas.openxmlformats.org/drawingml/2006/main">
            <a:off x="533400" y="1809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A8F88"/>
                </a:solidFill>
                <a:latin typeface="Arial"/>
                <a:ea typeface="Arial"/>
                <a:cs typeface="Arial"/>
              </a:defRPr>
            </a:pPr>
            <a:r>
              <a:rPr sz="2550" b="1">
                <a:solidFill>
                  <a:srgbClr val="0A8F88"/>
                </a:solidFill>
                <a:latin typeface="Arial"/>
                <a:ea typeface="Arial"/>
                <a:cs typeface="Arial"/>
              </a:rPr>
              <a:t>01</a:t>
            </a:r>
          </a:p>
        </p:txBody>
      </p:sp>
      <p:sp>
        <p:nvSpPr>
          <p:cNvPr id="5" name="control-title-0">
            <a:extLst xmlns:a="http://schemas.openxmlformats.org/drawingml/2006/main">
              <a:ext uri="{FF2B5EF4-FFF2-40B4-BE49-F238E27FC236}">
                <a16:creationId xmlns:a16="http://schemas.microsoft.com/office/drawing/2014/main" id="{8B306BED-81DC-4DE0-A4D7-ECF6B931A6EB}"/>
              </a:ext>
            </a:extLst>
          </p:cNvPr>
          <p:cNvSpPr>
            <a:spLocks xmlns:a="http://schemas.openxmlformats.org/drawingml/2006/main" noGrp="1"/>
          </p:cNvSpPr>
          <p:nvPr/>
        </p:nvSpPr>
        <p:spPr>
          <a:xfrm xmlns:a="http://schemas.openxmlformats.org/drawingml/2006/main">
            <a:off x="1276350" y="18097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1242D"/>
                </a:solidFill>
                <a:latin typeface="Arial"/>
                <a:ea typeface="Arial"/>
                <a:cs typeface="Arial"/>
              </a:defRPr>
            </a:pPr>
            <a:r>
              <a:rPr sz="2100" b="1">
                <a:solidFill>
                  <a:srgbClr val="11242D"/>
                </a:solidFill>
                <a:latin typeface="Arial"/>
                <a:ea typeface="Arial"/>
                <a:cs typeface="Arial"/>
              </a:rPr>
              <a:t>Communication</a:t>
            </a:r>
          </a:p>
        </p:txBody>
      </p:sp>
      <p:sp>
        <p:nvSpPr>
          <p:cNvPr id="6" name="control-body-0">
            <a:extLst xmlns:a="http://schemas.openxmlformats.org/drawingml/2006/main">
              <a:ext uri="{FF2B5EF4-FFF2-40B4-BE49-F238E27FC236}">
                <a16:creationId xmlns:a16="http://schemas.microsoft.com/office/drawing/2014/main" id="{D16BDAFD-0384-4082-93F2-A91702FD88D3}"/>
              </a:ext>
            </a:extLst>
          </p:cNvPr>
          <p:cNvSpPr>
            <a:spLocks xmlns:a="http://schemas.openxmlformats.org/drawingml/2006/main" noGrp="1"/>
          </p:cNvSpPr>
          <p:nvPr/>
        </p:nvSpPr>
        <p:spPr>
          <a:xfrm xmlns:a="http://schemas.openxmlformats.org/drawingml/2006/main">
            <a:off x="1276350" y="2362200"/>
            <a:ext cx="4572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66F"/>
                </a:solidFill>
                <a:latin typeface="Arial"/>
                <a:ea typeface="Arial"/>
                <a:cs typeface="Arial"/>
              </a:defRPr>
            </a:pPr>
            <a:r>
              <a:rPr sz="1500" b="0">
                <a:solidFill>
                  <a:srgbClr val="52666F"/>
                </a:solidFill>
                <a:latin typeface="Arial"/>
                <a:ea typeface="Arial"/>
                <a:cs typeface="Arial"/>
              </a:rPr>
              <a:t>Configure COM port, baud, parity, slave, timeout and retries; perform a real Function 03 test.</a:t>
            </a:r>
          </a:p>
        </p:txBody>
      </p:sp>
      <p:cxnSp>
        <p:nvCxnSpPr>
          <p:cNvPr id="28" name="control-rule-0"/>
          <p:cNvCxnSpPr/>
          <p:nvPr/>
        </p:nvCxnSpPr>
        <p:spPr>
          <a:xfrm xmlns:a="http://schemas.openxmlformats.org/drawingml/2006/main">
            <a:off x="533400" y="3524250"/>
            <a:ext cx="5048250" cy="0"/>
          </a:xfrm>
          <a:prstGeom xmlns:a="http://schemas.openxmlformats.org/drawingml/2006/main" prst="straightConnector1">
            <a:avLst/>
          </a:prstGeom>
          <a:ln xmlns:a="http://schemas.openxmlformats.org/drawingml/2006/main" w="9525">
            <a:solidFill>
              <a:srgbClr val="B7C4CA"/>
            </a:solidFill>
            <a:prstDash val="solid"/>
          </a:ln>
        </p:spPr>
      </p:cxnSp>
      <p:sp>
        <p:nvSpPr>
          <p:cNvPr id="8" name="control-index-1">
            <a:extLst xmlns:a="http://schemas.openxmlformats.org/drawingml/2006/main">
              <a:ext uri="{FF2B5EF4-FFF2-40B4-BE49-F238E27FC236}">
                <a16:creationId xmlns:a16="http://schemas.microsoft.com/office/drawing/2014/main" id="{D7A51B49-56B6-44F6-A7B9-2C238E782BFD}"/>
              </a:ext>
            </a:extLst>
          </p:cNvPr>
          <p:cNvSpPr>
            <a:spLocks xmlns:a="http://schemas.openxmlformats.org/drawingml/2006/main" noGrp="1"/>
          </p:cNvSpPr>
          <p:nvPr/>
        </p:nvSpPr>
        <p:spPr>
          <a:xfrm xmlns:a="http://schemas.openxmlformats.org/drawingml/2006/main">
            <a:off x="6191250" y="1809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A8F88"/>
                </a:solidFill>
                <a:latin typeface="Arial"/>
                <a:ea typeface="Arial"/>
                <a:cs typeface="Arial"/>
              </a:defRPr>
            </a:pPr>
            <a:r>
              <a:rPr sz="2550" b="1">
                <a:solidFill>
                  <a:srgbClr val="0A8F88"/>
                </a:solidFill>
                <a:latin typeface="Arial"/>
                <a:ea typeface="Arial"/>
                <a:cs typeface="Arial"/>
              </a:rPr>
              <a:t>02</a:t>
            </a:r>
          </a:p>
        </p:txBody>
      </p:sp>
      <p:sp>
        <p:nvSpPr>
          <p:cNvPr id="9" name="control-title-1">
            <a:extLst xmlns:a="http://schemas.openxmlformats.org/drawingml/2006/main">
              <a:ext uri="{FF2B5EF4-FFF2-40B4-BE49-F238E27FC236}">
                <a16:creationId xmlns:a16="http://schemas.microsoft.com/office/drawing/2014/main" id="{739FCC9F-11DC-4B31-AE13-3B64AE561127}"/>
              </a:ext>
            </a:extLst>
          </p:cNvPr>
          <p:cNvSpPr>
            <a:spLocks xmlns:a="http://schemas.openxmlformats.org/drawingml/2006/main" noGrp="1"/>
          </p:cNvSpPr>
          <p:nvPr/>
        </p:nvSpPr>
        <p:spPr>
          <a:xfrm xmlns:a="http://schemas.openxmlformats.org/drawingml/2006/main">
            <a:off x="6934200" y="18097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1242D"/>
                </a:solidFill>
                <a:latin typeface="Arial"/>
                <a:ea typeface="Arial"/>
                <a:cs typeface="Arial"/>
              </a:defRPr>
            </a:pPr>
            <a:r>
              <a:rPr sz="2100" b="1">
                <a:solidFill>
                  <a:srgbClr val="11242D"/>
                </a:solidFill>
                <a:latin typeface="Arial"/>
                <a:ea typeface="Arial"/>
                <a:cs typeface="Arial"/>
              </a:rPr>
              <a:t>Meter registers</a:t>
            </a:r>
          </a:p>
        </p:txBody>
      </p:sp>
      <p:sp>
        <p:nvSpPr>
          <p:cNvPr id="10" name="control-body-1">
            <a:extLst xmlns:a="http://schemas.openxmlformats.org/drawingml/2006/main">
              <a:ext uri="{FF2B5EF4-FFF2-40B4-BE49-F238E27FC236}">
                <a16:creationId xmlns:a16="http://schemas.microsoft.com/office/drawing/2014/main" id="{FCEC9B5B-6610-4019-933F-C36346935E36}"/>
              </a:ext>
            </a:extLst>
          </p:cNvPr>
          <p:cNvSpPr>
            <a:spLocks xmlns:a="http://schemas.openxmlformats.org/drawingml/2006/main" noGrp="1"/>
          </p:cNvSpPr>
          <p:nvPr/>
        </p:nvSpPr>
        <p:spPr>
          <a:xfrm xmlns:a="http://schemas.openxmlformats.org/drawingml/2006/main">
            <a:off x="6934200" y="2362200"/>
            <a:ext cx="4572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66F"/>
                </a:solidFill>
                <a:latin typeface="Arial"/>
                <a:ea typeface="Arial"/>
                <a:cs typeface="Arial"/>
              </a:defRPr>
            </a:pPr>
            <a:r>
              <a:rPr sz="1500" b="0">
                <a:solidFill>
                  <a:srgbClr val="52666F"/>
                </a:solidFill>
                <a:latin typeface="Arial"/>
                <a:ea typeface="Arial"/>
                <a:cs typeface="Arial"/>
              </a:rPr>
              <a:t>Assign up to 36 channels per controller with data type, word order, scaling and shop.</a:t>
            </a:r>
          </a:p>
        </p:txBody>
      </p:sp>
      <p:cxnSp>
        <p:nvCxnSpPr>
          <p:cNvPr id="32" name="control-rule-1"/>
          <p:cNvCxnSpPr/>
          <p:nvPr/>
        </p:nvCxnSpPr>
        <p:spPr>
          <a:xfrm xmlns:a="http://schemas.openxmlformats.org/drawingml/2006/main">
            <a:off x="6191250" y="3524250"/>
            <a:ext cx="5048250" cy="0"/>
          </a:xfrm>
          <a:prstGeom xmlns:a="http://schemas.openxmlformats.org/drawingml/2006/main" prst="straightConnector1">
            <a:avLst/>
          </a:prstGeom>
          <a:ln xmlns:a="http://schemas.openxmlformats.org/drawingml/2006/main" w="9525">
            <a:solidFill>
              <a:srgbClr val="B7C4CA"/>
            </a:solidFill>
            <a:prstDash val="solid"/>
          </a:ln>
        </p:spPr>
      </p:cxnSp>
      <p:sp>
        <p:nvSpPr>
          <p:cNvPr id="12" name="control-index-2">
            <a:extLst xmlns:a="http://schemas.openxmlformats.org/drawingml/2006/main">
              <a:ext uri="{FF2B5EF4-FFF2-40B4-BE49-F238E27FC236}">
                <a16:creationId xmlns:a16="http://schemas.microsoft.com/office/drawing/2014/main" id="{025BD017-C459-4CC4-983F-1BF70C46570D}"/>
              </a:ext>
            </a:extLst>
          </p:cNvPr>
          <p:cNvSpPr>
            <a:spLocks xmlns:a="http://schemas.openxmlformats.org/drawingml/2006/main" noGrp="1"/>
          </p:cNvSpPr>
          <p:nvPr/>
        </p:nvSpPr>
        <p:spPr>
          <a:xfrm xmlns:a="http://schemas.openxmlformats.org/drawingml/2006/main">
            <a:off x="533400" y="400050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A8F88"/>
                </a:solidFill>
                <a:latin typeface="Arial"/>
                <a:ea typeface="Arial"/>
                <a:cs typeface="Arial"/>
              </a:defRPr>
            </a:pPr>
            <a:r>
              <a:rPr sz="2550" b="1">
                <a:solidFill>
                  <a:srgbClr val="0A8F88"/>
                </a:solidFill>
                <a:latin typeface="Arial"/>
                <a:ea typeface="Arial"/>
                <a:cs typeface="Arial"/>
              </a:rPr>
              <a:t>03</a:t>
            </a:r>
          </a:p>
        </p:txBody>
      </p:sp>
      <p:sp>
        <p:nvSpPr>
          <p:cNvPr id="13" name="control-title-2">
            <a:extLst xmlns:a="http://schemas.openxmlformats.org/drawingml/2006/main">
              <a:ext uri="{FF2B5EF4-FFF2-40B4-BE49-F238E27FC236}">
                <a16:creationId xmlns:a16="http://schemas.microsoft.com/office/drawing/2014/main" id="{5D97D78F-D3A3-40D3-BE79-709F9D2DC373}"/>
              </a:ext>
            </a:extLst>
          </p:cNvPr>
          <p:cNvSpPr>
            <a:spLocks xmlns:a="http://schemas.openxmlformats.org/drawingml/2006/main" noGrp="1"/>
          </p:cNvSpPr>
          <p:nvPr/>
        </p:nvSpPr>
        <p:spPr>
          <a:xfrm xmlns:a="http://schemas.openxmlformats.org/drawingml/2006/main">
            <a:off x="1276350" y="40005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1242D"/>
                </a:solidFill>
                <a:latin typeface="Arial"/>
                <a:ea typeface="Arial"/>
                <a:cs typeface="Arial"/>
              </a:defRPr>
            </a:pPr>
            <a:r>
              <a:rPr sz="2100" b="1">
                <a:solidFill>
                  <a:srgbClr val="11242D"/>
                </a:solidFill>
                <a:latin typeface="Arial"/>
                <a:ea typeface="Arial"/>
                <a:cs typeface="Arial"/>
              </a:rPr>
              <a:t>Governance</a:t>
            </a:r>
          </a:p>
        </p:txBody>
      </p:sp>
      <p:sp>
        <p:nvSpPr>
          <p:cNvPr id="14" name="control-body-2">
            <a:extLst xmlns:a="http://schemas.openxmlformats.org/drawingml/2006/main">
              <a:ext uri="{FF2B5EF4-FFF2-40B4-BE49-F238E27FC236}">
                <a16:creationId xmlns:a16="http://schemas.microsoft.com/office/drawing/2014/main" id="{AAD08C34-0A3D-4BE5-8907-25A3EA9D0AD7}"/>
              </a:ext>
            </a:extLst>
          </p:cNvPr>
          <p:cNvSpPr>
            <a:spLocks xmlns:a="http://schemas.openxmlformats.org/drawingml/2006/main" noGrp="1"/>
          </p:cNvSpPr>
          <p:nvPr/>
        </p:nvSpPr>
        <p:spPr>
          <a:xfrm xmlns:a="http://schemas.openxmlformats.org/drawingml/2006/main">
            <a:off x="1276350" y="4552950"/>
            <a:ext cx="4572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66F"/>
                </a:solidFill>
                <a:latin typeface="Arial"/>
                <a:ea typeface="Arial"/>
                <a:cs typeface="Arial"/>
              </a:defRPr>
            </a:pPr>
            <a:r>
              <a:rPr sz="1500" b="0">
                <a:solidFill>
                  <a:srgbClr val="52666F"/>
                </a:solidFill>
                <a:latin typeface="Arial"/>
                <a:ea typeface="Arial"/>
                <a:cs typeface="Arial"/>
              </a:rPr>
              <a:t>Administrator-only setup, role-based access and audit history for configuration changes.</a:t>
            </a:r>
          </a:p>
        </p:txBody>
      </p:sp>
      <p:cxnSp>
        <p:nvCxnSpPr>
          <p:cNvPr id="36" name="control-rule-2"/>
          <p:cNvCxnSpPr/>
          <p:nvPr/>
        </p:nvCxnSpPr>
        <p:spPr>
          <a:xfrm xmlns:a="http://schemas.openxmlformats.org/drawingml/2006/main">
            <a:off x="533400" y="5715000"/>
            <a:ext cx="5048250" cy="0"/>
          </a:xfrm>
          <a:prstGeom xmlns:a="http://schemas.openxmlformats.org/drawingml/2006/main" prst="straightConnector1">
            <a:avLst/>
          </a:prstGeom>
          <a:ln xmlns:a="http://schemas.openxmlformats.org/drawingml/2006/main" w="9525">
            <a:solidFill>
              <a:srgbClr val="B7C4CA"/>
            </a:solidFill>
            <a:prstDash val="solid"/>
          </a:ln>
        </p:spPr>
      </p:cxnSp>
      <p:sp>
        <p:nvSpPr>
          <p:cNvPr id="16" name="control-index-3">
            <a:extLst xmlns:a="http://schemas.openxmlformats.org/drawingml/2006/main">
              <a:ext uri="{FF2B5EF4-FFF2-40B4-BE49-F238E27FC236}">
                <a16:creationId xmlns:a16="http://schemas.microsoft.com/office/drawing/2014/main" id="{5C6B95A1-6E06-4566-8B28-E305E0048275}"/>
              </a:ext>
            </a:extLst>
          </p:cNvPr>
          <p:cNvSpPr>
            <a:spLocks xmlns:a="http://schemas.openxmlformats.org/drawingml/2006/main" noGrp="1"/>
          </p:cNvSpPr>
          <p:nvPr/>
        </p:nvSpPr>
        <p:spPr>
          <a:xfrm xmlns:a="http://schemas.openxmlformats.org/drawingml/2006/main">
            <a:off x="6191250" y="400050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A8F88"/>
                </a:solidFill>
                <a:latin typeface="Arial"/>
                <a:ea typeface="Arial"/>
                <a:cs typeface="Arial"/>
              </a:defRPr>
            </a:pPr>
            <a:r>
              <a:rPr sz="2550" b="1">
                <a:solidFill>
                  <a:srgbClr val="0A8F88"/>
                </a:solidFill>
                <a:latin typeface="Arial"/>
                <a:ea typeface="Arial"/>
                <a:cs typeface="Arial"/>
              </a:rPr>
              <a:t>04</a:t>
            </a:r>
          </a:p>
        </p:txBody>
      </p:sp>
      <p:sp>
        <p:nvSpPr>
          <p:cNvPr id="17" name="control-title-3">
            <a:extLst xmlns:a="http://schemas.openxmlformats.org/drawingml/2006/main">
              <a:ext uri="{FF2B5EF4-FFF2-40B4-BE49-F238E27FC236}">
                <a16:creationId xmlns:a16="http://schemas.microsoft.com/office/drawing/2014/main" id="{19E0933E-524A-4068-A0A0-DB58A7868132}"/>
              </a:ext>
            </a:extLst>
          </p:cNvPr>
          <p:cNvSpPr>
            <a:spLocks xmlns:a="http://schemas.openxmlformats.org/drawingml/2006/main" noGrp="1"/>
          </p:cNvSpPr>
          <p:nvPr/>
        </p:nvSpPr>
        <p:spPr>
          <a:xfrm xmlns:a="http://schemas.openxmlformats.org/drawingml/2006/main">
            <a:off x="6934200" y="40005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1242D"/>
                </a:solidFill>
                <a:latin typeface="Arial"/>
                <a:ea typeface="Arial"/>
                <a:cs typeface="Arial"/>
              </a:defRPr>
            </a:pPr>
            <a:r>
              <a:rPr sz="2100" b="1">
                <a:solidFill>
                  <a:srgbClr val="11242D"/>
                </a:solidFill>
                <a:latin typeface="Arial"/>
                <a:ea typeface="Arial"/>
                <a:cs typeface="Arial"/>
              </a:rPr>
              <a:t>Resilience</a:t>
            </a:r>
          </a:p>
        </p:txBody>
      </p:sp>
      <p:sp>
        <p:nvSpPr>
          <p:cNvPr id="18" name="control-body-3">
            <a:extLst xmlns:a="http://schemas.openxmlformats.org/drawingml/2006/main">
              <a:ext uri="{FF2B5EF4-FFF2-40B4-BE49-F238E27FC236}">
                <a16:creationId xmlns:a16="http://schemas.microsoft.com/office/drawing/2014/main" id="{73170D4B-57BF-45C3-8FE0-939A1487732D}"/>
              </a:ext>
            </a:extLst>
          </p:cNvPr>
          <p:cNvSpPr>
            <a:spLocks xmlns:a="http://schemas.openxmlformats.org/drawingml/2006/main" noGrp="1"/>
          </p:cNvSpPr>
          <p:nvPr/>
        </p:nvSpPr>
        <p:spPr>
          <a:xfrm xmlns:a="http://schemas.openxmlformats.org/drawingml/2006/main">
            <a:off x="6934200" y="4552950"/>
            <a:ext cx="4572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66F"/>
                </a:solidFill>
                <a:latin typeface="Arial"/>
                <a:ea typeface="Arial"/>
                <a:cs typeface="Arial"/>
              </a:defRPr>
            </a:pPr>
            <a:r>
              <a:rPr sz="1500" b="0">
                <a:solidFill>
                  <a:srgbClr val="52666F"/>
                </a:solidFill>
                <a:latin typeface="Arial"/>
                <a:ea typeface="Arial"/>
                <a:cs typeface="Arial"/>
              </a:rPr>
              <a:t>Create and restore database backups; export readings for independent analysis.</a:t>
            </a:r>
          </a:p>
        </p:txBody>
      </p:sp>
      <p:cxnSp>
        <p:nvCxnSpPr>
          <p:cNvPr id="40" name="control-rule-3"/>
          <p:cNvCxnSpPr/>
          <p:nvPr/>
        </p:nvCxnSpPr>
        <p:spPr>
          <a:xfrm xmlns:a="http://schemas.openxmlformats.org/drawingml/2006/main">
            <a:off x="6191250" y="5715000"/>
            <a:ext cx="5048250" cy="0"/>
          </a:xfrm>
          <a:prstGeom xmlns:a="http://schemas.openxmlformats.org/drawingml/2006/main" prst="straightConnector1">
            <a:avLst/>
          </a:prstGeom>
          <a:ln xmlns:a="http://schemas.openxmlformats.org/drawingml/2006/main" w="9525">
            <a:solidFill>
              <a:srgbClr val="B7C4CA"/>
            </a:solidFill>
            <a:prstDash val="solid"/>
          </a:ln>
        </p:spPr>
      </p:cxnSp>
      <p:sp>
        <p:nvSpPr>
          <p:cNvPr id="20" name="footer-brand-9">
            <a:extLst xmlns:a="http://schemas.openxmlformats.org/drawingml/2006/main">
              <a:ext uri="{FF2B5EF4-FFF2-40B4-BE49-F238E27FC236}">
                <a16:creationId xmlns:a16="http://schemas.microsoft.com/office/drawing/2014/main" id="{FE6877D4-676A-4EAC-97A1-9592DA9FF611}"/>
              </a:ext>
            </a:extLst>
          </p:cNvPr>
          <p:cNvSpPr>
            <a:spLocks xmlns:a="http://schemas.openxmlformats.org/drawingml/2006/main" noGrp="1"/>
          </p:cNvSpPr>
          <p:nvPr/>
        </p:nvSpPr>
        <p:spPr>
          <a:xfrm xmlns:a="http://schemas.openxmlformats.org/drawingml/2006/main">
            <a:off x="533400" y="64389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2666F"/>
                </a:solidFill>
                <a:latin typeface="Arial"/>
                <a:ea typeface="Arial"/>
                <a:cs typeface="Arial"/>
              </a:defRPr>
            </a:pPr>
            <a:r>
              <a:rPr sz="975" b="0">
                <a:solidFill>
                  <a:srgbClr val="52666F"/>
                </a:solidFill>
                <a:latin typeface="Arial"/>
                <a:ea typeface="Arial"/>
                <a:cs typeface="Arial"/>
              </a:rPr>
              <a:t>Watch Every Watt · By MicroBrain</a:t>
            </a:r>
          </a:p>
        </p:txBody>
      </p:sp>
      <p:sp>
        <p:nvSpPr>
          <p:cNvPr id="21" name="footer-number-9">
            <a:extLst xmlns:a="http://schemas.openxmlformats.org/drawingml/2006/main">
              <a:ext uri="{FF2B5EF4-FFF2-40B4-BE49-F238E27FC236}">
                <a16:creationId xmlns:a16="http://schemas.microsoft.com/office/drawing/2014/main" id="{F5BE5A05-C1CA-47C1-A2EF-48046CB720B6}"/>
              </a:ext>
            </a:extLst>
          </p:cNvPr>
          <p:cNvSpPr>
            <a:spLocks xmlns:a="http://schemas.openxmlformats.org/drawingml/2006/main" noGrp="1"/>
          </p:cNvSpPr>
          <p:nvPr/>
        </p:nvSpPr>
        <p:spPr>
          <a:xfrm xmlns:a="http://schemas.openxmlformats.org/drawingml/2006/main">
            <a:off x="11144250" y="64389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2666F"/>
                </a:solidFill>
                <a:latin typeface="Arial"/>
                <a:ea typeface="Arial"/>
                <a:cs typeface="Arial"/>
              </a:defRPr>
            </a:pPr>
            <a:r>
              <a:rPr sz="975" b="1">
                <a:solidFill>
                  <a:srgbClr val="52666F"/>
                </a:solidFill>
                <a:latin typeface="Arial"/>
                <a:ea typeface="Arial"/>
                <a:cs typeface="Arial"/>
              </a:rPr>
              <a:t>09</a:t>
            </a:r>
          </a:p>
        </p:txBody>
      </p:sp>
    </p:spTree>
    <p:extLst>
      <p:ext uri="{BB962C8B-B14F-4D97-AF65-F5344CB8AC3E}">
        <p14:creationId xmlns:p14="http://schemas.microsoft.com/office/powerpoint/2010/main" val="12517099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icker-10">
            <a:extLst xmlns:a="http://schemas.openxmlformats.org/drawingml/2006/main">
              <a:ext uri="{FF2B5EF4-FFF2-40B4-BE49-F238E27FC236}">
                <a16:creationId xmlns:a16="http://schemas.microsoft.com/office/drawing/2014/main" id="{1D90D7D3-3187-441F-AC6B-A79BF45758F2}"/>
              </a:ext>
            </a:extLst>
          </p:cNvPr>
          <p:cNvSpPr>
            <a:spLocks xmlns:a="http://schemas.openxmlformats.org/drawingml/2006/main" noGrp="1"/>
          </p:cNvSpPr>
          <p:nvPr/>
        </p:nvSpPr>
        <p:spPr>
          <a:xfrm xmlns:a="http://schemas.openxmlformats.org/drawingml/2006/main">
            <a:off x="533400" y="323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8F88"/>
                </a:solidFill>
                <a:latin typeface="Arial"/>
                <a:ea typeface="Arial"/>
                <a:cs typeface="Arial"/>
              </a:defRPr>
            </a:pPr>
            <a:r>
              <a:rPr sz="1050" b="1">
                <a:solidFill>
                  <a:srgbClr val="0A8F88"/>
                </a:solidFill>
                <a:latin typeface="Arial"/>
                <a:ea typeface="Arial"/>
                <a:cs typeface="Arial"/>
              </a:rPr>
              <a:t>WATCH DOG EM</a:t>
            </a:r>
          </a:p>
        </p:txBody>
      </p:sp>
      <p:sp>
        <p:nvSpPr>
          <p:cNvPr id="2" name="title-10">
            <a:extLst xmlns:a="http://schemas.openxmlformats.org/drawingml/2006/main">
              <a:ext uri="{FF2B5EF4-FFF2-40B4-BE49-F238E27FC236}">
                <a16:creationId xmlns:a16="http://schemas.microsoft.com/office/drawing/2014/main" id="{9F754373-6B59-4C9A-BAE3-D17B6372BAB1}"/>
              </a:ext>
            </a:extLst>
          </p:cNvPr>
          <p:cNvSpPr>
            <a:spLocks xmlns:a="http://schemas.openxmlformats.org/drawingml/2006/main" noGrp="1"/>
          </p:cNvSpPr>
          <p:nvPr/>
        </p:nvSpPr>
        <p:spPr>
          <a:xfrm xmlns:a="http://schemas.openxmlformats.org/drawingml/2006/main">
            <a:off x="533400" y="666750"/>
            <a:ext cx="11125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1242D"/>
                </a:solidFill>
                <a:latin typeface="Arial"/>
                <a:ea typeface="Arial"/>
                <a:cs typeface="Arial"/>
              </a:defRPr>
            </a:pPr>
            <a:r>
              <a:rPr sz="3600" b="1">
                <a:solidFill>
                  <a:srgbClr val="11242D"/>
                </a:solidFill>
                <a:latin typeface="Arial"/>
                <a:ea typeface="Arial"/>
                <a:cs typeface="Arial"/>
              </a:rPr>
              <a:t>Local, self-contained and expandable</a:t>
            </a:r>
          </a:p>
        </p:txBody>
      </p:sp>
      <p:cxnSp>
        <p:nvCxnSpPr>
          <p:cNvPr id="18" name="header-rule-10"/>
          <p:cNvCxnSpPr/>
          <p:nvPr/>
        </p:nvCxnSpPr>
        <p:spPr>
          <a:xfrm xmlns:a="http://schemas.openxmlformats.org/drawingml/2006/main">
            <a:off x="533400" y="1428750"/>
            <a:ext cx="11125200" cy="0"/>
          </a:xfrm>
          <a:prstGeom xmlns:a="http://schemas.openxmlformats.org/drawingml/2006/main" prst="straightConnector1">
            <a:avLst/>
          </a:prstGeom>
          <a:ln xmlns:a="http://schemas.openxmlformats.org/drawingml/2006/main" w="9525">
            <a:solidFill>
              <a:srgbClr val="B7C4CA"/>
            </a:solidFill>
            <a:prstDash val="solid"/>
          </a:ln>
        </p:spPr>
      </p:cxnSp>
      <p:sp>
        <p:nvSpPr>
          <p:cNvPr id="4" name="deploy-intro">
            <a:extLst xmlns:a="http://schemas.openxmlformats.org/drawingml/2006/main">
              <a:ext uri="{FF2B5EF4-FFF2-40B4-BE49-F238E27FC236}">
                <a16:creationId xmlns:a16="http://schemas.microsoft.com/office/drawing/2014/main" id="{E9D0E813-F336-4293-B959-763FE41B36A2}"/>
              </a:ext>
            </a:extLst>
          </p:cNvPr>
          <p:cNvSpPr>
            <a:spLocks xmlns:a="http://schemas.openxmlformats.org/drawingml/2006/main" noGrp="1"/>
          </p:cNvSpPr>
          <p:nvPr/>
        </p:nvSpPr>
        <p:spPr>
          <a:xfrm xmlns:a="http://schemas.openxmlformats.org/drawingml/2006/main">
            <a:off x="533400" y="1666875"/>
            <a:ext cx="11125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52666F"/>
                </a:solidFill>
                <a:latin typeface="Arial"/>
                <a:ea typeface="Arial"/>
                <a:cs typeface="Arial"/>
              </a:defRPr>
            </a:pPr>
            <a:r>
              <a:rPr sz="1800" b="0">
                <a:solidFill>
                  <a:srgbClr val="52666F"/>
                </a:solidFill>
                <a:latin typeface="Arial"/>
                <a:ea typeface="Arial"/>
                <a:cs typeface="Arial"/>
              </a:rPr>
              <a:t>Watch Dog EM runs as a local web application on a Windows PC or server, keeping the operational database on the customer-controlled machine.</a:t>
            </a:r>
          </a:p>
        </p:txBody>
      </p:sp>
      <p:sp>
        <p:nvSpPr>
          <p:cNvPr id="5" name="deploy-card-0">
            <a:extLst xmlns:a="http://schemas.openxmlformats.org/drawingml/2006/main">
              <a:ext uri="{FF2B5EF4-FFF2-40B4-BE49-F238E27FC236}">
                <a16:creationId xmlns:a16="http://schemas.microsoft.com/office/drawing/2014/main" id="{47CC07AA-4E8C-4DAC-BB7E-26E2ACD855C0}"/>
              </a:ext>
            </a:extLst>
          </p:cNvPr>
          <p:cNvSpPr>
            <a:spLocks xmlns:a="http://schemas.openxmlformats.org/drawingml/2006/main" noGrp="1"/>
          </p:cNvSpPr>
          <p:nvPr/>
        </p:nvSpPr>
        <p:spPr>
          <a:xfrm xmlns:a="http://schemas.openxmlformats.org/drawingml/2006/main">
            <a:off x="533400" y="2857500"/>
            <a:ext cx="3429000" cy="2619375"/>
          </a:xfrm>
          <a:prstGeom xmlns:a="http://schemas.openxmlformats.org/drawingml/2006/main" prst="rect">
            <a:avLst/>
          </a:prstGeom>
          <a:solidFill xmlns:a="http://schemas.openxmlformats.org/drawingml/2006/main">
            <a:srgbClr val="EEF3F5"/>
          </a:solidFill>
          <a:ln xmlns:a="http://schemas.openxmlformats.org/drawingml/2006/main" w="9525">
            <a:solidFill>
              <a:srgbClr val="EEF3F5"/>
            </a:solidFill>
            <a:prstDash val="solid"/>
          </a:ln>
        </p:spPr>
      </p:sp>
      <p:sp>
        <p:nvSpPr>
          <p:cNvPr id="6" name="deploy-stat-0">
            <a:extLst xmlns:a="http://schemas.openxmlformats.org/drawingml/2006/main">
              <a:ext uri="{FF2B5EF4-FFF2-40B4-BE49-F238E27FC236}">
                <a16:creationId xmlns:a16="http://schemas.microsoft.com/office/drawing/2014/main" id="{89A22412-9172-4105-9617-9EA8D6A3F3C8}"/>
              </a:ext>
            </a:extLst>
          </p:cNvPr>
          <p:cNvSpPr>
            <a:spLocks xmlns:a="http://schemas.openxmlformats.org/drawingml/2006/main" noGrp="1"/>
          </p:cNvSpPr>
          <p:nvPr/>
        </p:nvSpPr>
        <p:spPr>
          <a:xfrm xmlns:a="http://schemas.openxmlformats.org/drawingml/2006/main">
            <a:off x="800100" y="3238500"/>
            <a:ext cx="2895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8716D"/>
                </a:solidFill>
                <a:latin typeface="Arial"/>
                <a:ea typeface="Arial"/>
                <a:cs typeface="Arial"/>
              </a:defRPr>
            </a:pPr>
            <a:r>
              <a:rPr sz="2850" b="1">
                <a:solidFill>
                  <a:srgbClr val="08716D"/>
                </a:solidFill>
                <a:latin typeface="Arial"/>
                <a:ea typeface="Arial"/>
                <a:cs typeface="Arial"/>
              </a:rPr>
              <a:t>Windows x64</a:t>
            </a:r>
          </a:p>
        </p:txBody>
      </p:sp>
      <p:sp>
        <p:nvSpPr>
          <p:cNvPr id="7" name="deploy-body-0">
            <a:extLst xmlns:a="http://schemas.openxmlformats.org/drawingml/2006/main">
              <a:ext uri="{FF2B5EF4-FFF2-40B4-BE49-F238E27FC236}">
                <a16:creationId xmlns:a16="http://schemas.microsoft.com/office/drawing/2014/main" id="{9E00BC37-9440-4F97-847D-A872F83BF023}"/>
              </a:ext>
            </a:extLst>
          </p:cNvPr>
          <p:cNvSpPr>
            <a:spLocks xmlns:a="http://schemas.openxmlformats.org/drawingml/2006/main" noGrp="1"/>
          </p:cNvSpPr>
          <p:nvPr/>
        </p:nvSpPr>
        <p:spPr>
          <a:xfrm xmlns:a="http://schemas.openxmlformats.org/drawingml/2006/main">
            <a:off x="800100" y="4191000"/>
            <a:ext cx="2895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2666F"/>
                </a:solidFill>
                <a:latin typeface="Arial"/>
                <a:ea typeface="Arial"/>
                <a:cs typeface="Arial"/>
              </a:defRPr>
            </a:pPr>
            <a:r>
              <a:rPr sz="1575" b="0">
                <a:solidFill>
                  <a:srgbClr val="52666F"/>
                </a:solidFill>
                <a:latin typeface="Arial"/>
                <a:ea typeface="Arial"/>
                <a:cs typeface="Arial"/>
              </a:rPr>
              <a:t>Packaged installer with desktop and Start menu shortcuts.</a:t>
            </a:r>
          </a:p>
        </p:txBody>
      </p:sp>
      <p:sp>
        <p:nvSpPr>
          <p:cNvPr id="8" name="deploy-card-1">
            <a:extLst xmlns:a="http://schemas.openxmlformats.org/drawingml/2006/main">
              <a:ext uri="{FF2B5EF4-FFF2-40B4-BE49-F238E27FC236}">
                <a16:creationId xmlns:a16="http://schemas.microsoft.com/office/drawing/2014/main" id="{25CF46F1-2CC1-4D43-B1AB-B5CA36F7EC03}"/>
              </a:ext>
            </a:extLst>
          </p:cNvPr>
          <p:cNvSpPr>
            <a:spLocks xmlns:a="http://schemas.openxmlformats.org/drawingml/2006/main" noGrp="1"/>
          </p:cNvSpPr>
          <p:nvPr/>
        </p:nvSpPr>
        <p:spPr>
          <a:xfrm xmlns:a="http://schemas.openxmlformats.org/drawingml/2006/main">
            <a:off x="4343400" y="2857500"/>
            <a:ext cx="3429000" cy="2619375"/>
          </a:xfrm>
          <a:prstGeom xmlns:a="http://schemas.openxmlformats.org/drawingml/2006/main" prst="rect">
            <a:avLst/>
          </a:prstGeom>
          <a:solidFill xmlns:a="http://schemas.openxmlformats.org/drawingml/2006/main">
            <a:srgbClr val="DDF2EE"/>
          </a:solidFill>
          <a:ln xmlns:a="http://schemas.openxmlformats.org/drawingml/2006/main" w="9525">
            <a:solidFill>
              <a:srgbClr val="DDF2EE"/>
            </a:solidFill>
            <a:prstDash val="solid"/>
          </a:ln>
        </p:spPr>
      </p:sp>
      <p:sp>
        <p:nvSpPr>
          <p:cNvPr id="9" name="deploy-stat-1">
            <a:extLst xmlns:a="http://schemas.openxmlformats.org/drawingml/2006/main">
              <a:ext uri="{FF2B5EF4-FFF2-40B4-BE49-F238E27FC236}">
                <a16:creationId xmlns:a16="http://schemas.microsoft.com/office/drawing/2014/main" id="{432039FC-9402-486F-B705-9BB0479ED90B}"/>
              </a:ext>
            </a:extLst>
          </p:cNvPr>
          <p:cNvSpPr>
            <a:spLocks xmlns:a="http://schemas.openxmlformats.org/drawingml/2006/main" noGrp="1"/>
          </p:cNvSpPr>
          <p:nvPr/>
        </p:nvSpPr>
        <p:spPr>
          <a:xfrm xmlns:a="http://schemas.openxmlformats.org/drawingml/2006/main">
            <a:off x="4610100" y="3238500"/>
            <a:ext cx="2895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B2838"/>
                </a:solidFill>
                <a:latin typeface="Arial"/>
                <a:ea typeface="Arial"/>
                <a:cs typeface="Arial"/>
              </a:defRPr>
            </a:pPr>
            <a:r>
              <a:rPr sz="2850" b="1">
                <a:solidFill>
                  <a:srgbClr val="0B2838"/>
                </a:solidFill>
                <a:latin typeface="Arial"/>
                <a:ea typeface="Arial"/>
                <a:cs typeface="Arial"/>
              </a:rPr>
              <a:t>No separate .NET</a:t>
            </a:r>
          </a:p>
        </p:txBody>
      </p:sp>
      <p:sp>
        <p:nvSpPr>
          <p:cNvPr id="10" name="deploy-body-1">
            <a:extLst xmlns:a="http://schemas.openxmlformats.org/drawingml/2006/main">
              <a:ext uri="{FF2B5EF4-FFF2-40B4-BE49-F238E27FC236}">
                <a16:creationId xmlns:a16="http://schemas.microsoft.com/office/drawing/2014/main" id="{0425C963-7E42-4D4B-94DB-9CC4EA768291}"/>
              </a:ext>
            </a:extLst>
          </p:cNvPr>
          <p:cNvSpPr>
            <a:spLocks xmlns:a="http://schemas.openxmlformats.org/drawingml/2006/main" noGrp="1"/>
          </p:cNvSpPr>
          <p:nvPr/>
        </p:nvSpPr>
        <p:spPr>
          <a:xfrm xmlns:a="http://schemas.openxmlformats.org/drawingml/2006/main">
            <a:off x="4610100" y="4191000"/>
            <a:ext cx="2895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2666F"/>
                </a:solidFill>
                <a:latin typeface="Arial"/>
                <a:ea typeface="Arial"/>
                <a:cs typeface="Arial"/>
              </a:defRPr>
            </a:pPr>
            <a:r>
              <a:rPr sz="1575" b="0">
                <a:solidFill>
                  <a:srgbClr val="52666F"/>
                </a:solidFill>
                <a:latin typeface="Arial"/>
                <a:ea typeface="Arial"/>
                <a:cs typeface="Arial"/>
              </a:rPr>
              <a:t>The release contains the required runtime for direct installation.</a:t>
            </a:r>
          </a:p>
        </p:txBody>
      </p:sp>
      <p:sp>
        <p:nvSpPr>
          <p:cNvPr id="11" name="deploy-card-2">
            <a:extLst xmlns:a="http://schemas.openxmlformats.org/drawingml/2006/main">
              <a:ext uri="{FF2B5EF4-FFF2-40B4-BE49-F238E27FC236}">
                <a16:creationId xmlns:a16="http://schemas.microsoft.com/office/drawing/2014/main" id="{DA8E7F97-9EA2-42B4-9020-9246EE910D8D}"/>
              </a:ext>
            </a:extLst>
          </p:cNvPr>
          <p:cNvSpPr>
            <a:spLocks xmlns:a="http://schemas.openxmlformats.org/drawingml/2006/main" noGrp="1"/>
          </p:cNvSpPr>
          <p:nvPr/>
        </p:nvSpPr>
        <p:spPr>
          <a:xfrm xmlns:a="http://schemas.openxmlformats.org/drawingml/2006/main">
            <a:off x="8153400" y="2857500"/>
            <a:ext cx="3429000" cy="2619375"/>
          </a:xfrm>
          <a:prstGeom xmlns:a="http://schemas.openxmlformats.org/drawingml/2006/main" prst="rect">
            <a:avLst/>
          </a:prstGeom>
          <a:solidFill xmlns:a="http://schemas.openxmlformats.org/drawingml/2006/main">
            <a:srgbClr val="EEF3F5"/>
          </a:solidFill>
          <a:ln xmlns:a="http://schemas.openxmlformats.org/drawingml/2006/main" w="9525">
            <a:solidFill>
              <a:srgbClr val="EEF3F5"/>
            </a:solidFill>
            <a:prstDash val="solid"/>
          </a:ln>
        </p:spPr>
      </p:sp>
      <p:sp>
        <p:nvSpPr>
          <p:cNvPr id="12" name="deploy-stat-2">
            <a:extLst xmlns:a="http://schemas.openxmlformats.org/drawingml/2006/main">
              <a:ext uri="{FF2B5EF4-FFF2-40B4-BE49-F238E27FC236}">
                <a16:creationId xmlns:a16="http://schemas.microsoft.com/office/drawing/2014/main" id="{34FE11A9-5F61-4551-ADB2-704A692A1D29}"/>
              </a:ext>
            </a:extLst>
          </p:cNvPr>
          <p:cNvSpPr>
            <a:spLocks xmlns:a="http://schemas.openxmlformats.org/drawingml/2006/main" noGrp="1"/>
          </p:cNvSpPr>
          <p:nvPr/>
        </p:nvSpPr>
        <p:spPr>
          <a:xfrm xmlns:a="http://schemas.openxmlformats.org/drawingml/2006/main">
            <a:off x="8420100" y="3238500"/>
            <a:ext cx="2895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8716D"/>
                </a:solidFill>
                <a:latin typeface="Arial"/>
                <a:ea typeface="Arial"/>
                <a:cs typeface="Arial"/>
              </a:defRPr>
            </a:pPr>
            <a:r>
              <a:rPr sz="2850" b="1">
                <a:solidFill>
                  <a:srgbClr val="08716D"/>
                </a:solidFill>
                <a:latin typeface="Arial"/>
                <a:ea typeface="Arial"/>
                <a:cs typeface="Arial"/>
              </a:rPr>
              <a:t>36 channels</a:t>
            </a:r>
          </a:p>
        </p:txBody>
      </p:sp>
      <p:sp>
        <p:nvSpPr>
          <p:cNvPr id="13" name="deploy-body-2">
            <a:extLst xmlns:a="http://schemas.openxmlformats.org/drawingml/2006/main">
              <a:ext uri="{FF2B5EF4-FFF2-40B4-BE49-F238E27FC236}">
                <a16:creationId xmlns:a16="http://schemas.microsoft.com/office/drawing/2014/main" id="{A3C8A92B-07F8-4726-AB50-B9B7AD6FE794}"/>
              </a:ext>
            </a:extLst>
          </p:cNvPr>
          <p:cNvSpPr>
            <a:spLocks xmlns:a="http://schemas.openxmlformats.org/drawingml/2006/main" noGrp="1"/>
          </p:cNvSpPr>
          <p:nvPr/>
        </p:nvSpPr>
        <p:spPr>
          <a:xfrm xmlns:a="http://schemas.openxmlformats.org/drawingml/2006/main">
            <a:off x="8420100" y="4191000"/>
            <a:ext cx="2895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2666F"/>
                </a:solidFill>
                <a:latin typeface="Arial"/>
                <a:ea typeface="Arial"/>
                <a:cs typeface="Arial"/>
              </a:defRPr>
            </a:pPr>
            <a:r>
              <a:rPr sz="1575" b="0">
                <a:solidFill>
                  <a:srgbClr val="52666F"/>
                </a:solidFill>
                <a:latin typeface="Arial"/>
                <a:ea typeface="Arial"/>
                <a:cs typeface="Arial"/>
              </a:rPr>
              <a:t>Per controller, with expansion through additional controllers.</a:t>
            </a:r>
          </a:p>
        </p:txBody>
      </p:sp>
      <p:sp>
        <p:nvSpPr>
          <p:cNvPr id="14" name="footer-brand-10">
            <a:extLst xmlns:a="http://schemas.openxmlformats.org/drawingml/2006/main">
              <a:ext uri="{FF2B5EF4-FFF2-40B4-BE49-F238E27FC236}">
                <a16:creationId xmlns:a16="http://schemas.microsoft.com/office/drawing/2014/main" id="{434D886B-C71B-4251-B640-E8BABE71A0EA}"/>
              </a:ext>
            </a:extLst>
          </p:cNvPr>
          <p:cNvSpPr>
            <a:spLocks xmlns:a="http://schemas.openxmlformats.org/drawingml/2006/main" noGrp="1"/>
          </p:cNvSpPr>
          <p:nvPr/>
        </p:nvSpPr>
        <p:spPr>
          <a:xfrm xmlns:a="http://schemas.openxmlformats.org/drawingml/2006/main">
            <a:off x="533400" y="64389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2666F"/>
                </a:solidFill>
                <a:latin typeface="Arial"/>
                <a:ea typeface="Arial"/>
                <a:cs typeface="Arial"/>
              </a:defRPr>
            </a:pPr>
            <a:r>
              <a:rPr sz="975" b="0">
                <a:solidFill>
                  <a:srgbClr val="52666F"/>
                </a:solidFill>
                <a:latin typeface="Arial"/>
                <a:ea typeface="Arial"/>
                <a:cs typeface="Arial"/>
              </a:rPr>
              <a:t>Watch Every Watt · By MicroBrain</a:t>
            </a:r>
          </a:p>
        </p:txBody>
      </p:sp>
      <p:sp>
        <p:nvSpPr>
          <p:cNvPr id="15" name="footer-number-10">
            <a:extLst xmlns:a="http://schemas.openxmlformats.org/drawingml/2006/main">
              <a:ext uri="{FF2B5EF4-FFF2-40B4-BE49-F238E27FC236}">
                <a16:creationId xmlns:a16="http://schemas.microsoft.com/office/drawing/2014/main" id="{A34B371C-CB29-4D61-9390-51BC2E337A0F}"/>
              </a:ext>
            </a:extLst>
          </p:cNvPr>
          <p:cNvSpPr>
            <a:spLocks xmlns:a="http://schemas.openxmlformats.org/drawingml/2006/main" noGrp="1"/>
          </p:cNvSpPr>
          <p:nvPr/>
        </p:nvSpPr>
        <p:spPr>
          <a:xfrm xmlns:a="http://schemas.openxmlformats.org/drawingml/2006/main">
            <a:off x="11144250" y="64389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2666F"/>
                </a:solidFill>
                <a:latin typeface="Arial"/>
                <a:ea typeface="Arial"/>
                <a:cs typeface="Arial"/>
              </a:defRPr>
            </a:pPr>
            <a:r>
              <a:rPr sz="975" b="1">
                <a:solidFill>
                  <a:srgbClr val="52666F"/>
                </a:solidFill>
                <a:latin typeface="Arial"/>
                <a:ea typeface="Arial"/>
                <a:cs typeface="Arial"/>
              </a:rPr>
              <a:t>10</a:t>
            </a:r>
          </a:p>
        </p:txBody>
      </p:sp>
    </p:spTree>
    <p:extLst>
      <p:ext uri="{BB962C8B-B14F-4D97-AF65-F5344CB8AC3E}">
        <p14:creationId xmlns:p14="http://schemas.microsoft.com/office/powerpoint/2010/main" val="1370448315"/>
      </p:ext>
    </p:extLst>
  </p:cSld>
</p:sld>
</file>

<file path=ppt/slides/slide11.xml><?xml version="1.0" encoding="utf-8"?>
<p:sld xmlns:p="http://schemas.openxmlformats.org/presentationml/2006/main">
  <p:cSld>
    <p:bg>
      <p:bgPr>
        <a:solidFill xmlns:a="http://schemas.openxmlformats.org/drawingml/2006/main">
          <a:srgbClr val="0B2838"/>
        </a:solidFill>
      </p:bgPr>
    </p:bg>
    <p:spTree>
      <p:nvGrpSpPr>
        <p:cNvPr id="1" name=""/>
        <p:cNvGrpSpPr/>
        <p:nvPr/>
      </p:nvGrpSpPr>
      <p:grpSpPr>
        <a:xfrm xmlns:a="http://schemas.openxmlformats.org/drawingml/2006/main"/>
      </p:grpSpPr>
      <p:sp>
        <p:nvSpPr>
          <p:cNvPr id="18" name="close-kicker">
            <a:extLst xmlns:a="http://schemas.openxmlformats.org/drawingml/2006/main">
              <a:ext uri="{FF2B5EF4-FFF2-40B4-BE49-F238E27FC236}">
                <a16:creationId xmlns:a16="http://schemas.microsoft.com/office/drawing/2014/main" id="{3BFC2C32-16E8-440E-B4B8-CFA4EBF3EC67}"/>
              </a:ext>
            </a:extLst>
          </p:cNvPr>
          <p:cNvSpPr>
            <a:spLocks xmlns:a="http://schemas.openxmlformats.org/drawingml/2006/main" noGrp="1"/>
          </p:cNvSpPr>
          <p:nvPr/>
        </p:nvSpPr>
        <p:spPr>
          <a:xfrm xmlns:a="http://schemas.openxmlformats.org/drawingml/2006/main">
            <a:off x="609600" y="5143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71D7CF"/>
                </a:solidFill>
                <a:latin typeface="Arial"/>
                <a:ea typeface="Arial"/>
                <a:cs typeface="Arial"/>
              </a:defRPr>
            </a:pPr>
            <a:r>
              <a:rPr sz="1200" b="1">
                <a:solidFill>
                  <a:srgbClr val="71D7CF"/>
                </a:solidFill>
                <a:latin typeface="Arial"/>
                <a:ea typeface="Arial"/>
                <a:cs typeface="Arial"/>
              </a:rPr>
              <a:t>RECOMMENDED NEXT STEP</a:t>
            </a:r>
          </a:p>
        </p:txBody>
      </p:sp>
      <p:sp>
        <p:nvSpPr>
          <p:cNvPr id="2" name="close-title">
            <a:extLst xmlns:a="http://schemas.openxmlformats.org/drawingml/2006/main">
              <a:ext uri="{FF2B5EF4-FFF2-40B4-BE49-F238E27FC236}">
                <a16:creationId xmlns:a16="http://schemas.microsoft.com/office/drawing/2014/main" id="{51566C31-3912-41BE-BFF4-3BB72325990E}"/>
              </a:ext>
            </a:extLst>
          </p:cNvPr>
          <p:cNvSpPr>
            <a:spLocks xmlns:a="http://schemas.openxmlformats.org/drawingml/2006/main" noGrp="1"/>
          </p:cNvSpPr>
          <p:nvPr/>
        </p:nvSpPr>
        <p:spPr>
          <a:xfrm xmlns:a="http://schemas.openxmlformats.org/drawingml/2006/main">
            <a:off x="609600" y="1000125"/>
            <a:ext cx="762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Approve a controlled pilot</a:t>
            </a:r>
          </a:p>
        </p:txBody>
      </p:sp>
      <p:sp>
        <p:nvSpPr>
          <p:cNvPr id="3" name="close-subtitle">
            <a:extLst xmlns:a="http://schemas.openxmlformats.org/drawingml/2006/main">
              <a:ext uri="{FF2B5EF4-FFF2-40B4-BE49-F238E27FC236}">
                <a16:creationId xmlns:a16="http://schemas.microsoft.com/office/drawing/2014/main" id="{F2D2D266-CC7E-4AEC-820E-202DA2573271}"/>
              </a:ext>
            </a:extLst>
          </p:cNvPr>
          <p:cNvSpPr>
            <a:spLocks xmlns:a="http://schemas.openxmlformats.org/drawingml/2006/main" noGrp="1"/>
          </p:cNvSpPr>
          <p:nvPr/>
        </p:nvSpPr>
        <p:spPr>
          <a:xfrm xmlns:a="http://schemas.openxmlformats.org/drawingml/2006/main">
            <a:off x="609600" y="18097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D9E6EA"/>
                </a:solidFill>
                <a:latin typeface="Arial"/>
                <a:ea typeface="Arial"/>
                <a:cs typeface="Arial"/>
              </a:defRPr>
            </a:pPr>
            <a:r>
              <a:rPr sz="1800" b="0">
                <a:solidFill>
                  <a:srgbClr val="D9E6EA"/>
                </a:solidFill>
                <a:latin typeface="Arial"/>
                <a:ea typeface="Arial"/>
                <a:cs typeface="Arial"/>
              </a:rPr>
              <a:t>Prove communication, billing accuracy and the monthly operating process on a limited set of real meters before full rollout.</a:t>
            </a:r>
          </a:p>
        </p:txBody>
      </p:sp>
      <p:sp>
        <p:nvSpPr>
          <p:cNvPr id="4" name="close-card-0">
            <a:extLst xmlns:a="http://schemas.openxmlformats.org/drawingml/2006/main">
              <a:ext uri="{FF2B5EF4-FFF2-40B4-BE49-F238E27FC236}">
                <a16:creationId xmlns:a16="http://schemas.microsoft.com/office/drawing/2014/main" id="{5D3A1845-1070-48CC-82CF-E75CF10C4651}"/>
              </a:ext>
            </a:extLst>
          </p:cNvPr>
          <p:cNvSpPr>
            <a:spLocks xmlns:a="http://schemas.openxmlformats.org/drawingml/2006/main" noGrp="1"/>
          </p:cNvSpPr>
          <p:nvPr/>
        </p:nvSpPr>
        <p:spPr>
          <a:xfrm xmlns:a="http://schemas.openxmlformats.org/drawingml/2006/main">
            <a:off x="609600" y="3143250"/>
            <a:ext cx="3333750" cy="2000250"/>
          </a:xfrm>
          <a:prstGeom xmlns:a="http://schemas.openxmlformats.org/drawingml/2006/main" prst="rect">
            <a:avLst/>
          </a:prstGeom>
          <a:solidFill xmlns:a="http://schemas.openxmlformats.org/drawingml/2006/main">
            <a:srgbClr val="173B4D"/>
          </a:solidFill>
          <a:ln xmlns:a="http://schemas.openxmlformats.org/drawingml/2006/main" w="9525">
            <a:solidFill>
              <a:srgbClr val="173B4D"/>
            </a:solidFill>
            <a:prstDash val="solid"/>
          </a:ln>
        </p:spPr>
      </p:sp>
      <p:sp>
        <p:nvSpPr>
          <p:cNvPr id="5" name="close-num-0">
            <a:extLst xmlns:a="http://schemas.openxmlformats.org/drawingml/2006/main">
              <a:ext uri="{FF2B5EF4-FFF2-40B4-BE49-F238E27FC236}">
                <a16:creationId xmlns:a16="http://schemas.microsoft.com/office/drawing/2014/main" id="{A7CA1EB5-D5DE-4992-ACEE-57626A46D89F}"/>
              </a:ext>
            </a:extLst>
          </p:cNvPr>
          <p:cNvSpPr>
            <a:spLocks xmlns:a="http://schemas.openxmlformats.org/drawingml/2006/main" noGrp="1"/>
          </p:cNvSpPr>
          <p:nvPr/>
        </p:nvSpPr>
        <p:spPr>
          <a:xfrm xmlns:a="http://schemas.openxmlformats.org/drawingml/2006/main">
            <a:off x="838200" y="33528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01</a:t>
            </a:r>
          </a:p>
        </p:txBody>
      </p:sp>
      <p:sp>
        <p:nvSpPr>
          <p:cNvPr id="6" name="close-phase-0">
            <a:extLst xmlns:a="http://schemas.openxmlformats.org/drawingml/2006/main">
              <a:ext uri="{FF2B5EF4-FFF2-40B4-BE49-F238E27FC236}">
                <a16:creationId xmlns:a16="http://schemas.microsoft.com/office/drawing/2014/main" id="{92240719-79C4-4575-8789-564E97F0CD54}"/>
              </a:ext>
            </a:extLst>
          </p:cNvPr>
          <p:cNvSpPr>
            <a:spLocks xmlns:a="http://schemas.openxmlformats.org/drawingml/2006/main" noGrp="1"/>
          </p:cNvSpPr>
          <p:nvPr/>
        </p:nvSpPr>
        <p:spPr>
          <a:xfrm xmlns:a="http://schemas.openxmlformats.org/drawingml/2006/main">
            <a:off x="838200" y="38100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Commission</a:t>
            </a:r>
          </a:p>
        </p:txBody>
      </p:sp>
      <p:sp>
        <p:nvSpPr>
          <p:cNvPr id="7" name="close-body-0">
            <a:extLst xmlns:a="http://schemas.openxmlformats.org/drawingml/2006/main">
              <a:ext uri="{FF2B5EF4-FFF2-40B4-BE49-F238E27FC236}">
                <a16:creationId xmlns:a16="http://schemas.microsoft.com/office/drawing/2014/main" id="{FCD4E1DB-0862-4154-9E54-28839EF1C458}"/>
              </a:ext>
            </a:extLst>
          </p:cNvPr>
          <p:cNvSpPr>
            <a:spLocks xmlns:a="http://schemas.openxmlformats.org/drawingml/2006/main" noGrp="1"/>
          </p:cNvSpPr>
          <p:nvPr/>
        </p:nvSpPr>
        <p:spPr>
          <a:xfrm xmlns:a="http://schemas.openxmlformats.org/drawingml/2006/main">
            <a:off x="838200" y="43053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Confirm RS-485 wiring, serial settings, slave address and register map.</a:t>
            </a:r>
          </a:p>
        </p:txBody>
      </p:sp>
      <p:sp>
        <p:nvSpPr>
          <p:cNvPr id="8" name="close-card-1">
            <a:extLst xmlns:a="http://schemas.openxmlformats.org/drawingml/2006/main">
              <a:ext uri="{FF2B5EF4-FFF2-40B4-BE49-F238E27FC236}">
                <a16:creationId xmlns:a16="http://schemas.microsoft.com/office/drawing/2014/main" id="{906E25C7-5996-437F-A661-D7334619538E}"/>
              </a:ext>
            </a:extLst>
          </p:cNvPr>
          <p:cNvSpPr>
            <a:spLocks xmlns:a="http://schemas.openxmlformats.org/drawingml/2006/main" noGrp="1"/>
          </p:cNvSpPr>
          <p:nvPr/>
        </p:nvSpPr>
        <p:spPr>
          <a:xfrm xmlns:a="http://schemas.openxmlformats.org/drawingml/2006/main">
            <a:off x="4324350" y="3143250"/>
            <a:ext cx="3333750" cy="2000250"/>
          </a:xfrm>
          <a:prstGeom xmlns:a="http://schemas.openxmlformats.org/drawingml/2006/main" prst="rect">
            <a:avLst/>
          </a:prstGeom>
          <a:solidFill xmlns:a="http://schemas.openxmlformats.org/drawingml/2006/main">
            <a:srgbClr val="0A8F88"/>
          </a:solidFill>
          <a:ln xmlns:a="http://schemas.openxmlformats.org/drawingml/2006/main" w="9525">
            <a:solidFill>
              <a:srgbClr val="0A8F88"/>
            </a:solidFill>
            <a:prstDash val="solid"/>
          </a:ln>
        </p:spPr>
      </p:sp>
      <p:sp>
        <p:nvSpPr>
          <p:cNvPr id="9" name="close-num-1">
            <a:extLst xmlns:a="http://schemas.openxmlformats.org/drawingml/2006/main">
              <a:ext uri="{FF2B5EF4-FFF2-40B4-BE49-F238E27FC236}">
                <a16:creationId xmlns:a16="http://schemas.microsoft.com/office/drawing/2014/main" id="{3118BC98-5E18-4504-A266-68EC19746975}"/>
              </a:ext>
            </a:extLst>
          </p:cNvPr>
          <p:cNvSpPr>
            <a:spLocks xmlns:a="http://schemas.openxmlformats.org/drawingml/2006/main" noGrp="1"/>
          </p:cNvSpPr>
          <p:nvPr/>
        </p:nvSpPr>
        <p:spPr>
          <a:xfrm xmlns:a="http://schemas.openxmlformats.org/drawingml/2006/main">
            <a:off x="4552950" y="33528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02</a:t>
            </a:r>
          </a:p>
        </p:txBody>
      </p:sp>
      <p:sp>
        <p:nvSpPr>
          <p:cNvPr id="10" name="close-phase-1">
            <a:extLst xmlns:a="http://schemas.openxmlformats.org/drawingml/2006/main">
              <a:ext uri="{FF2B5EF4-FFF2-40B4-BE49-F238E27FC236}">
                <a16:creationId xmlns:a16="http://schemas.microsoft.com/office/drawing/2014/main" id="{AA28E98E-7B1D-4A75-8468-13804FA56787}"/>
              </a:ext>
            </a:extLst>
          </p:cNvPr>
          <p:cNvSpPr>
            <a:spLocks xmlns:a="http://schemas.openxmlformats.org/drawingml/2006/main" noGrp="1"/>
          </p:cNvSpPr>
          <p:nvPr/>
        </p:nvSpPr>
        <p:spPr>
          <a:xfrm xmlns:a="http://schemas.openxmlformats.org/drawingml/2006/main">
            <a:off x="4552950" y="38100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Validate</a:t>
            </a:r>
          </a:p>
        </p:txBody>
      </p:sp>
      <p:sp>
        <p:nvSpPr>
          <p:cNvPr id="11" name="close-body-1">
            <a:extLst xmlns:a="http://schemas.openxmlformats.org/drawingml/2006/main">
              <a:ext uri="{FF2B5EF4-FFF2-40B4-BE49-F238E27FC236}">
                <a16:creationId xmlns:a16="http://schemas.microsoft.com/office/drawing/2014/main" id="{4060D968-BF32-4F72-8C2E-0CA68A797180}"/>
              </a:ext>
            </a:extLst>
          </p:cNvPr>
          <p:cNvSpPr>
            <a:spLocks xmlns:a="http://schemas.openxmlformats.org/drawingml/2006/main" noGrp="1"/>
          </p:cNvSpPr>
          <p:nvPr/>
        </p:nvSpPr>
        <p:spPr>
          <a:xfrm xmlns:a="http://schemas.openxmlformats.org/drawingml/2006/main">
            <a:off x="4552950" y="43053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Compare system readings and sample invoices against approved manual checks.</a:t>
            </a:r>
          </a:p>
        </p:txBody>
      </p:sp>
      <p:sp>
        <p:nvSpPr>
          <p:cNvPr id="12" name="close-card-2">
            <a:extLst xmlns:a="http://schemas.openxmlformats.org/drawingml/2006/main">
              <a:ext uri="{FF2B5EF4-FFF2-40B4-BE49-F238E27FC236}">
                <a16:creationId xmlns:a16="http://schemas.microsoft.com/office/drawing/2014/main" id="{2791A8CC-D95D-4943-BDF0-BB67229F577C}"/>
              </a:ext>
            </a:extLst>
          </p:cNvPr>
          <p:cNvSpPr>
            <a:spLocks xmlns:a="http://schemas.openxmlformats.org/drawingml/2006/main" noGrp="1"/>
          </p:cNvSpPr>
          <p:nvPr/>
        </p:nvSpPr>
        <p:spPr>
          <a:xfrm xmlns:a="http://schemas.openxmlformats.org/drawingml/2006/main">
            <a:off x="8039100" y="3143250"/>
            <a:ext cx="3333750" cy="2000250"/>
          </a:xfrm>
          <a:prstGeom xmlns:a="http://schemas.openxmlformats.org/drawingml/2006/main" prst="rect">
            <a:avLst/>
          </a:prstGeom>
          <a:solidFill xmlns:a="http://schemas.openxmlformats.org/drawingml/2006/main">
            <a:srgbClr val="173B4D"/>
          </a:solidFill>
          <a:ln xmlns:a="http://schemas.openxmlformats.org/drawingml/2006/main" w="9525">
            <a:solidFill>
              <a:srgbClr val="173B4D"/>
            </a:solidFill>
            <a:prstDash val="solid"/>
          </a:ln>
        </p:spPr>
      </p:sp>
      <p:sp>
        <p:nvSpPr>
          <p:cNvPr id="13" name="close-num-2">
            <a:extLst xmlns:a="http://schemas.openxmlformats.org/drawingml/2006/main">
              <a:ext uri="{FF2B5EF4-FFF2-40B4-BE49-F238E27FC236}">
                <a16:creationId xmlns:a16="http://schemas.microsoft.com/office/drawing/2014/main" id="{0770D341-C2C4-46AC-8859-9F9A8C2CCAFC}"/>
              </a:ext>
            </a:extLst>
          </p:cNvPr>
          <p:cNvSpPr>
            <a:spLocks xmlns:a="http://schemas.openxmlformats.org/drawingml/2006/main" noGrp="1"/>
          </p:cNvSpPr>
          <p:nvPr/>
        </p:nvSpPr>
        <p:spPr>
          <a:xfrm xmlns:a="http://schemas.openxmlformats.org/drawingml/2006/main">
            <a:off x="8267700" y="33528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03</a:t>
            </a:r>
          </a:p>
        </p:txBody>
      </p:sp>
      <p:sp>
        <p:nvSpPr>
          <p:cNvPr id="14" name="close-phase-2">
            <a:extLst xmlns:a="http://schemas.openxmlformats.org/drawingml/2006/main">
              <a:ext uri="{FF2B5EF4-FFF2-40B4-BE49-F238E27FC236}">
                <a16:creationId xmlns:a16="http://schemas.microsoft.com/office/drawing/2014/main" id="{FFBB69CD-7F1E-429A-97FA-6D53A7953E9C}"/>
              </a:ext>
            </a:extLst>
          </p:cNvPr>
          <p:cNvSpPr>
            <a:spLocks xmlns:a="http://schemas.openxmlformats.org/drawingml/2006/main" noGrp="1"/>
          </p:cNvSpPr>
          <p:nvPr/>
        </p:nvSpPr>
        <p:spPr>
          <a:xfrm xmlns:a="http://schemas.openxmlformats.org/drawingml/2006/main">
            <a:off x="8267700" y="38100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Operate</a:t>
            </a:r>
          </a:p>
        </p:txBody>
      </p:sp>
      <p:sp>
        <p:nvSpPr>
          <p:cNvPr id="15" name="close-body-2">
            <a:extLst xmlns:a="http://schemas.openxmlformats.org/drawingml/2006/main">
              <a:ext uri="{FF2B5EF4-FFF2-40B4-BE49-F238E27FC236}">
                <a16:creationId xmlns:a16="http://schemas.microsoft.com/office/drawing/2014/main" id="{52411031-08FE-4A17-A577-6A7227B628EE}"/>
              </a:ext>
            </a:extLst>
          </p:cNvPr>
          <p:cNvSpPr>
            <a:spLocks xmlns:a="http://schemas.openxmlformats.org/drawingml/2006/main" noGrp="1"/>
          </p:cNvSpPr>
          <p:nvPr/>
        </p:nvSpPr>
        <p:spPr>
          <a:xfrm xmlns:a="http://schemas.openxmlformats.org/drawingml/2006/main">
            <a:off x="8267700" y="43053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Run one billing cycle, review exceptions and agree the expansion plan.</a:t>
            </a:r>
          </a:p>
        </p:txBody>
      </p:sp>
      <p:sp>
        <p:nvSpPr>
          <p:cNvPr id="16" name="close-decision">
            <a:extLst xmlns:a="http://schemas.openxmlformats.org/drawingml/2006/main">
              <a:ext uri="{FF2B5EF4-FFF2-40B4-BE49-F238E27FC236}">
                <a16:creationId xmlns:a16="http://schemas.microsoft.com/office/drawing/2014/main" id="{033BCB89-1CB9-41E8-A6E6-B09803E7FB6F}"/>
              </a:ext>
            </a:extLst>
          </p:cNvPr>
          <p:cNvSpPr>
            <a:spLocks xmlns:a="http://schemas.openxmlformats.org/drawingml/2006/main" noGrp="1"/>
          </p:cNvSpPr>
          <p:nvPr/>
        </p:nvSpPr>
        <p:spPr>
          <a:xfrm xmlns:a="http://schemas.openxmlformats.org/drawingml/2006/main">
            <a:off x="609600" y="5667375"/>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71D7CF"/>
                </a:solidFill>
                <a:latin typeface="Arial"/>
                <a:ea typeface="Arial"/>
                <a:cs typeface="Arial"/>
              </a:defRPr>
            </a:pPr>
            <a:r>
              <a:rPr sz="1875" b="1">
                <a:solidFill>
                  <a:srgbClr val="71D7CF"/>
                </a:solidFill>
                <a:latin typeface="Arial"/>
                <a:ea typeface="Arial"/>
                <a:cs typeface="Arial"/>
              </a:rPr>
              <a:t>Decision requested: approve pilot scope, site access and responsible owner representatives.</a:t>
            </a:r>
          </a:p>
        </p:txBody>
      </p:sp>
      <p:sp>
        <p:nvSpPr>
          <p:cNvPr id="17" name="close-brand">
            <a:extLst xmlns:a="http://schemas.openxmlformats.org/drawingml/2006/main">
              <a:ext uri="{FF2B5EF4-FFF2-40B4-BE49-F238E27FC236}">
                <a16:creationId xmlns:a16="http://schemas.microsoft.com/office/drawing/2014/main" id="{17ECE003-D003-4C3B-9CFF-8ACB872E0ADA}"/>
              </a:ext>
            </a:extLst>
          </p:cNvPr>
          <p:cNvSpPr>
            <a:spLocks xmlns:a="http://schemas.openxmlformats.org/drawingml/2006/main" noGrp="1"/>
          </p:cNvSpPr>
          <p:nvPr/>
        </p:nvSpPr>
        <p:spPr>
          <a:xfrm xmlns:a="http://schemas.openxmlformats.org/drawingml/2006/main">
            <a:off x="609600" y="63817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rial"/>
                <a:ea typeface="Arial"/>
                <a:cs typeface="Arial"/>
              </a:defRPr>
            </a:pPr>
            <a:r>
              <a:rPr sz="975" b="1">
                <a:solidFill>
                  <a:srgbClr val="FFFFFF"/>
                </a:solidFill>
                <a:latin typeface="Arial"/>
                <a:ea typeface="Arial"/>
                <a:cs typeface="Arial"/>
              </a:rPr>
              <a:t>WATCH DOG EM · WATCH EVERY WATT · BY MICROBrain</a:t>
            </a:r>
          </a:p>
        </p:txBody>
      </p:sp>
    </p:spTree>
    <p:extLst>
      <p:ext uri="{BB962C8B-B14F-4D97-AF65-F5344CB8AC3E}">
        <p14:creationId xmlns:p14="http://schemas.microsoft.com/office/powerpoint/2010/main" val="5370356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2026-08-27T14:12:34.6470000Z</dcterms:created>
  <dcterms:modified xsi:type="dcterms:W3CDTF">2026-08-27T14:12:34.6480000Z</dcterms:modified>
</coreProperties>
</file>